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9" r:id="rId1"/>
  </p:sldMasterIdLst>
  <p:notesMasterIdLst>
    <p:notesMasterId r:id="rId17"/>
  </p:notesMasterIdLst>
  <p:sldIdLst>
    <p:sldId id="256" r:id="rId2"/>
    <p:sldId id="284" r:id="rId3"/>
    <p:sldId id="274" r:id="rId4"/>
    <p:sldId id="273" r:id="rId5"/>
    <p:sldId id="264" r:id="rId6"/>
    <p:sldId id="276" r:id="rId7"/>
    <p:sldId id="266" r:id="rId8"/>
    <p:sldId id="277" r:id="rId9"/>
    <p:sldId id="278" r:id="rId10"/>
    <p:sldId id="281" r:id="rId11"/>
    <p:sldId id="279" r:id="rId12"/>
    <p:sldId id="282" r:id="rId13"/>
    <p:sldId id="263" r:id="rId14"/>
    <p:sldId id="283" r:id="rId15"/>
    <p:sldId id="271" r:id="rId16"/>
  </p:sldIdLst>
  <p:sldSz cx="14630400" cy="8229600"/>
  <p:notesSz cx="8229600" cy="146304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Medium" pitchFamily="2" charset="0"/>
      <p:regular r:id="rId22"/>
      <p:italic r:id="rId23"/>
    </p:embeddedFont>
    <p:embeddedFont>
      <p:font typeface="Gill Sans MT" panose="020B0502020104020203" pitchFamily="34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7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FC8F9-7184-C844-98CE-E197037A3C71}" v="5918" dt="2025-09-25T23:28:55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>
      <p:cViewPr varScale="1">
        <p:scale>
          <a:sx n="105" d="100"/>
          <a:sy n="105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3771D8-F95B-0348-9A82-C4ABCF4575FC}" type="doc">
      <dgm:prSet loTypeId="urn:microsoft.com/office/officeart/2008/layout/AlternatingPictureBlocks" loCatId="" qsTypeId="urn:microsoft.com/office/officeart/2005/8/quickstyle/simple1" qsCatId="simple" csTypeId="urn:microsoft.com/office/officeart/2005/8/colors/accent0_3" csCatId="mainScheme" phldr="1"/>
      <dgm:spPr/>
    </dgm:pt>
    <dgm:pt modelId="{D150E3E5-E814-FA49-BB95-692C3A23C6BA}">
      <dgm:prSet phldrT="[Text]" custT="1"/>
      <dgm:spPr>
        <a:solidFill>
          <a:srgbClr val="7030A0"/>
        </a:solidFill>
        <a:ln>
          <a:noFill/>
        </a:ln>
      </dgm:spPr>
      <dgm:t>
        <a:bodyPr/>
        <a:lstStyle/>
        <a:p>
          <a:pPr rtl="0"/>
          <a:r>
            <a:rPr lang="en-US" sz="4800"/>
            <a:t>Localization</a:t>
          </a:r>
        </a:p>
      </dgm:t>
    </dgm:pt>
    <dgm:pt modelId="{CFA43706-D047-194D-A088-6A5143BF33BB}" type="parTrans" cxnId="{B13E4474-DF59-5A47-BF35-FB37B17A06CE}">
      <dgm:prSet/>
      <dgm:spPr/>
      <dgm:t>
        <a:bodyPr/>
        <a:lstStyle/>
        <a:p>
          <a:endParaRPr lang="en-US"/>
        </a:p>
      </dgm:t>
    </dgm:pt>
    <dgm:pt modelId="{A08138FD-35E7-9740-B835-472CBB95EC57}" type="sibTrans" cxnId="{B13E4474-DF59-5A47-BF35-FB37B17A06CE}">
      <dgm:prSet/>
      <dgm:spPr>
        <a:solidFill>
          <a:srgbClr val="7030A0"/>
        </a:solidFill>
      </dgm:spPr>
      <dgm:t>
        <a:bodyPr/>
        <a:lstStyle/>
        <a:p>
          <a:pPr rtl="0"/>
          <a:endParaRPr lang="en-US"/>
        </a:p>
      </dgm:t>
    </dgm:pt>
    <dgm:pt modelId="{65F2B7AC-7582-D040-8B2C-FFC4FBEEE74E}">
      <dgm:prSet phldrT="[Text]"/>
      <dgm:spPr>
        <a:solidFill>
          <a:srgbClr val="7030A0"/>
        </a:solidFill>
        <a:ln>
          <a:noFill/>
        </a:ln>
      </dgm:spPr>
      <dgm:t>
        <a:bodyPr/>
        <a:lstStyle/>
        <a:p>
          <a:pPr rtl="0"/>
          <a:r>
            <a:rPr lang="en-US"/>
            <a:t>Adversarial attack</a:t>
          </a:r>
        </a:p>
      </dgm:t>
    </dgm:pt>
    <dgm:pt modelId="{88A1544D-2B77-634D-8C86-5798640040B7}" type="parTrans" cxnId="{D0CAB15A-4DF9-5745-AE5D-094843F46639}">
      <dgm:prSet/>
      <dgm:spPr/>
      <dgm:t>
        <a:bodyPr/>
        <a:lstStyle/>
        <a:p>
          <a:endParaRPr lang="en-US"/>
        </a:p>
      </dgm:t>
    </dgm:pt>
    <dgm:pt modelId="{F2FF02A8-3DE7-B946-A0C1-C3B79D7D1397}" type="sibTrans" cxnId="{D0CAB15A-4DF9-5745-AE5D-094843F46639}">
      <dgm:prSet/>
      <dgm:spPr>
        <a:solidFill>
          <a:srgbClr val="7030A0"/>
        </a:solidFill>
      </dgm:spPr>
      <dgm:t>
        <a:bodyPr/>
        <a:lstStyle/>
        <a:p>
          <a:pPr rtl="0"/>
          <a:endParaRPr lang="en-US"/>
        </a:p>
      </dgm:t>
    </dgm:pt>
    <dgm:pt modelId="{5476AA19-8677-6C4E-8369-54C88B39B7BE}">
      <dgm:prSet phldrT="[Text]"/>
      <dgm:spPr>
        <a:solidFill>
          <a:srgbClr val="7030A0"/>
        </a:solidFill>
        <a:ln>
          <a:noFill/>
        </a:ln>
      </dgm:spPr>
      <dgm:t>
        <a:bodyPr/>
        <a:lstStyle/>
        <a:p>
          <a:pPr rtl="0"/>
          <a:r>
            <a:rPr lang="en-US"/>
            <a:t>Robustness</a:t>
          </a:r>
        </a:p>
      </dgm:t>
    </dgm:pt>
    <dgm:pt modelId="{9C6A74E2-42EC-9B4D-B4E7-396DFC45DC0E}" type="parTrans" cxnId="{5ACAEB79-61C6-114D-B167-80D891D5991A}">
      <dgm:prSet/>
      <dgm:spPr/>
      <dgm:t>
        <a:bodyPr/>
        <a:lstStyle/>
        <a:p>
          <a:endParaRPr lang="en-US"/>
        </a:p>
      </dgm:t>
    </dgm:pt>
    <dgm:pt modelId="{47ACF3B1-80BF-D14C-A960-DAFAD97CD2E5}" type="sibTrans" cxnId="{5ACAEB79-61C6-114D-B167-80D891D5991A}">
      <dgm:prSet/>
      <dgm:spPr/>
      <dgm:t>
        <a:bodyPr/>
        <a:lstStyle/>
        <a:p>
          <a:endParaRPr lang="en-US"/>
        </a:p>
      </dgm:t>
    </dgm:pt>
    <dgm:pt modelId="{953ED4C3-00E4-3541-BED6-DF325679E996}" type="pres">
      <dgm:prSet presAssocID="{073771D8-F95B-0348-9A82-C4ABCF4575FC}" presName="linearFlow" presStyleCnt="0">
        <dgm:presLayoutVars>
          <dgm:dir/>
          <dgm:resizeHandles val="exact"/>
        </dgm:presLayoutVars>
      </dgm:prSet>
      <dgm:spPr/>
    </dgm:pt>
    <dgm:pt modelId="{5207528C-2A13-414D-8DD3-D4B3113F5965}" type="pres">
      <dgm:prSet presAssocID="{D150E3E5-E814-FA49-BB95-692C3A23C6BA}" presName="comp" presStyleCnt="0"/>
      <dgm:spPr/>
    </dgm:pt>
    <dgm:pt modelId="{E02B56D7-FE72-8844-91B8-CB76E3DED150}" type="pres">
      <dgm:prSet presAssocID="{D150E3E5-E814-FA49-BB95-692C3A23C6BA}" presName="rect2" presStyleLbl="node1" presStyleIdx="0" presStyleCnt="3">
        <dgm:presLayoutVars>
          <dgm:bulletEnabled val="1"/>
        </dgm:presLayoutVars>
      </dgm:prSet>
      <dgm:spPr/>
    </dgm:pt>
    <dgm:pt modelId="{2F3A0137-63F8-124E-BB5D-33401696B3DF}" type="pres">
      <dgm:prSet presAssocID="{D150E3E5-E814-FA49-BB95-692C3A23C6BA}" presName="rect1" presStyleLbl="ln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 flying paper airplane"/>
        </a:ext>
      </dgm:extLst>
    </dgm:pt>
    <dgm:pt modelId="{BEFD5B8B-572C-7C41-AE12-FB557CC82CCA}" type="pres">
      <dgm:prSet presAssocID="{A08138FD-35E7-9740-B835-472CBB95EC57}" presName="sibTrans" presStyleCnt="0"/>
      <dgm:spPr/>
    </dgm:pt>
    <dgm:pt modelId="{C8308FAD-97D4-F342-823C-31ACCD98A8EE}" type="pres">
      <dgm:prSet presAssocID="{65F2B7AC-7582-D040-8B2C-FFC4FBEEE74E}" presName="comp" presStyleCnt="0"/>
      <dgm:spPr/>
    </dgm:pt>
    <dgm:pt modelId="{924B0ABC-72DA-634C-B7E0-83A5F7E77BD2}" type="pres">
      <dgm:prSet presAssocID="{65F2B7AC-7582-D040-8B2C-FFC4FBEEE74E}" presName="rect2" presStyleLbl="node1" presStyleIdx="1" presStyleCnt="3">
        <dgm:presLayoutVars>
          <dgm:bulletEnabled val="1"/>
        </dgm:presLayoutVars>
      </dgm:prSet>
      <dgm:spPr/>
    </dgm:pt>
    <dgm:pt modelId="{374F19AF-791E-7445-993D-40C699D0E66A}" type="pres">
      <dgm:prSet presAssocID="{65F2B7AC-7582-D040-8B2C-FFC4FBEEE74E}" presName="rect1" presStyleLbl="ln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000" r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 tyrannosaurus rex"/>
        </a:ext>
      </dgm:extLst>
    </dgm:pt>
    <dgm:pt modelId="{AC658E52-D86A-7F42-884C-68BC9A1DFB40}" type="pres">
      <dgm:prSet presAssocID="{F2FF02A8-3DE7-B946-A0C1-C3B79D7D1397}" presName="sibTrans" presStyleCnt="0"/>
      <dgm:spPr/>
    </dgm:pt>
    <dgm:pt modelId="{125250E9-9704-634D-8949-4EB65E1D3A75}" type="pres">
      <dgm:prSet presAssocID="{5476AA19-8677-6C4E-8369-54C88B39B7BE}" presName="comp" presStyleCnt="0"/>
      <dgm:spPr/>
    </dgm:pt>
    <dgm:pt modelId="{6956D34A-C9AC-7444-865C-D538391C6F22}" type="pres">
      <dgm:prSet presAssocID="{5476AA19-8677-6C4E-8369-54C88B39B7BE}" presName="rect2" presStyleLbl="node1" presStyleIdx="2" presStyleCnt="3">
        <dgm:presLayoutVars>
          <dgm:bulletEnabled val="1"/>
        </dgm:presLayoutVars>
      </dgm:prSet>
      <dgm:spPr/>
    </dgm:pt>
    <dgm:pt modelId="{BB2F26BD-5714-474A-8C92-B957C21E8320}" type="pres">
      <dgm:prSet presAssocID="{5476AA19-8677-6C4E-8369-54C88B39B7BE}" presName="rect1" presStyleLbl="ln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 robot with a raised arm"/>
        </a:ext>
      </dgm:extLst>
    </dgm:pt>
  </dgm:ptLst>
  <dgm:cxnLst>
    <dgm:cxn modelId="{B13E4474-DF59-5A47-BF35-FB37B17A06CE}" srcId="{073771D8-F95B-0348-9A82-C4ABCF4575FC}" destId="{D150E3E5-E814-FA49-BB95-692C3A23C6BA}" srcOrd="0" destOrd="0" parTransId="{CFA43706-D047-194D-A088-6A5143BF33BB}" sibTransId="{A08138FD-35E7-9740-B835-472CBB95EC57}"/>
    <dgm:cxn modelId="{B9F32356-984D-594C-B45C-4BA5167DEAA3}" type="presOf" srcId="{D150E3E5-E814-FA49-BB95-692C3A23C6BA}" destId="{E02B56D7-FE72-8844-91B8-CB76E3DED150}" srcOrd="0" destOrd="0" presId="urn:microsoft.com/office/officeart/2008/layout/AlternatingPictureBlocks"/>
    <dgm:cxn modelId="{5ACAEB79-61C6-114D-B167-80D891D5991A}" srcId="{073771D8-F95B-0348-9A82-C4ABCF4575FC}" destId="{5476AA19-8677-6C4E-8369-54C88B39B7BE}" srcOrd="2" destOrd="0" parTransId="{9C6A74E2-42EC-9B4D-B4E7-396DFC45DC0E}" sibTransId="{47ACF3B1-80BF-D14C-A960-DAFAD97CD2E5}"/>
    <dgm:cxn modelId="{D0CAB15A-4DF9-5745-AE5D-094843F46639}" srcId="{073771D8-F95B-0348-9A82-C4ABCF4575FC}" destId="{65F2B7AC-7582-D040-8B2C-FFC4FBEEE74E}" srcOrd="1" destOrd="0" parTransId="{88A1544D-2B77-634D-8C86-5798640040B7}" sibTransId="{F2FF02A8-3DE7-B946-A0C1-C3B79D7D1397}"/>
    <dgm:cxn modelId="{1FA73297-764B-AC4A-9C2F-66755D84E4CD}" type="presOf" srcId="{073771D8-F95B-0348-9A82-C4ABCF4575FC}" destId="{953ED4C3-00E4-3541-BED6-DF325679E996}" srcOrd="0" destOrd="0" presId="urn:microsoft.com/office/officeart/2008/layout/AlternatingPictureBlocks"/>
    <dgm:cxn modelId="{C187ECA0-9B11-9945-BDFF-4779E578F0A8}" type="presOf" srcId="{5476AA19-8677-6C4E-8369-54C88B39B7BE}" destId="{6956D34A-C9AC-7444-865C-D538391C6F22}" srcOrd="0" destOrd="0" presId="urn:microsoft.com/office/officeart/2008/layout/AlternatingPictureBlocks"/>
    <dgm:cxn modelId="{05DABCA9-62BF-BA41-ACDE-88DF2CCD3CF3}" type="presOf" srcId="{65F2B7AC-7582-D040-8B2C-FFC4FBEEE74E}" destId="{924B0ABC-72DA-634C-B7E0-83A5F7E77BD2}" srcOrd="0" destOrd="0" presId="urn:microsoft.com/office/officeart/2008/layout/AlternatingPictureBlocks"/>
    <dgm:cxn modelId="{486A45C7-069A-874D-8DD8-F24573E94678}" type="presParOf" srcId="{953ED4C3-00E4-3541-BED6-DF325679E996}" destId="{5207528C-2A13-414D-8DD3-D4B3113F5965}" srcOrd="0" destOrd="0" presId="urn:microsoft.com/office/officeart/2008/layout/AlternatingPictureBlocks"/>
    <dgm:cxn modelId="{F5ED2FC7-8AEC-D44B-9FB2-37F0A6364210}" type="presParOf" srcId="{5207528C-2A13-414D-8DD3-D4B3113F5965}" destId="{E02B56D7-FE72-8844-91B8-CB76E3DED150}" srcOrd="0" destOrd="0" presId="urn:microsoft.com/office/officeart/2008/layout/AlternatingPictureBlocks"/>
    <dgm:cxn modelId="{A2FCB188-CED2-344D-8B91-0215A5CBE6A5}" type="presParOf" srcId="{5207528C-2A13-414D-8DD3-D4B3113F5965}" destId="{2F3A0137-63F8-124E-BB5D-33401696B3DF}" srcOrd="1" destOrd="0" presId="urn:microsoft.com/office/officeart/2008/layout/AlternatingPictureBlocks"/>
    <dgm:cxn modelId="{93139ABD-BBE1-7C4F-9F0B-31CCC03DDC55}" type="presParOf" srcId="{953ED4C3-00E4-3541-BED6-DF325679E996}" destId="{BEFD5B8B-572C-7C41-AE12-FB557CC82CCA}" srcOrd="1" destOrd="0" presId="urn:microsoft.com/office/officeart/2008/layout/AlternatingPictureBlocks"/>
    <dgm:cxn modelId="{4DB5DF7F-CFF9-3F41-8F80-FB049BF92689}" type="presParOf" srcId="{953ED4C3-00E4-3541-BED6-DF325679E996}" destId="{C8308FAD-97D4-F342-823C-31ACCD98A8EE}" srcOrd="2" destOrd="0" presId="urn:microsoft.com/office/officeart/2008/layout/AlternatingPictureBlocks"/>
    <dgm:cxn modelId="{98485B8E-C122-F645-93B2-28D30112836D}" type="presParOf" srcId="{C8308FAD-97D4-F342-823C-31ACCD98A8EE}" destId="{924B0ABC-72DA-634C-B7E0-83A5F7E77BD2}" srcOrd="0" destOrd="0" presId="urn:microsoft.com/office/officeart/2008/layout/AlternatingPictureBlocks"/>
    <dgm:cxn modelId="{9888E106-E33C-C942-9A11-05585092A245}" type="presParOf" srcId="{C8308FAD-97D4-F342-823C-31ACCD98A8EE}" destId="{374F19AF-791E-7445-993D-40C699D0E66A}" srcOrd="1" destOrd="0" presId="urn:microsoft.com/office/officeart/2008/layout/AlternatingPictureBlocks"/>
    <dgm:cxn modelId="{88C9EDA3-9F0C-3C45-A6F9-A2FA44B63AFD}" type="presParOf" srcId="{953ED4C3-00E4-3541-BED6-DF325679E996}" destId="{AC658E52-D86A-7F42-884C-68BC9A1DFB40}" srcOrd="3" destOrd="0" presId="urn:microsoft.com/office/officeart/2008/layout/AlternatingPictureBlocks"/>
    <dgm:cxn modelId="{E01B0B77-BDA0-8641-810F-F67B5F5BA159}" type="presParOf" srcId="{953ED4C3-00E4-3541-BED6-DF325679E996}" destId="{125250E9-9704-634D-8949-4EB65E1D3A75}" srcOrd="4" destOrd="0" presId="urn:microsoft.com/office/officeart/2008/layout/AlternatingPictureBlocks"/>
    <dgm:cxn modelId="{E01E13D1-94F5-4744-9FFF-49CA60B297B8}" type="presParOf" srcId="{125250E9-9704-634D-8949-4EB65E1D3A75}" destId="{6956D34A-C9AC-7444-865C-D538391C6F22}" srcOrd="0" destOrd="0" presId="urn:microsoft.com/office/officeart/2008/layout/AlternatingPictureBlocks"/>
    <dgm:cxn modelId="{BF15ADC8-3E08-2147-95A0-01B23FDF8477}" type="presParOf" srcId="{125250E9-9704-634D-8949-4EB65E1D3A75}" destId="{BB2F26BD-5714-474A-8C92-B957C21E8320}" srcOrd="1" destOrd="0" presId="urn:microsoft.com/office/officeart/2008/layout/AlternatingPictureBlocks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2B56D7-FE72-8844-91B8-CB76E3DED150}">
      <dsp:nvSpPr>
        <dsp:cNvPr id="0" name=""/>
        <dsp:cNvSpPr/>
      </dsp:nvSpPr>
      <dsp:spPr>
        <a:xfrm>
          <a:off x="5038598" y="3722"/>
          <a:ext cx="5105898" cy="2309316"/>
        </a:xfrm>
        <a:prstGeom prst="rect">
          <a:avLst/>
        </a:prstGeom>
        <a:solidFill>
          <a:srgbClr val="7030A0"/>
        </a:solid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Localization</a:t>
          </a:r>
        </a:p>
      </dsp:txBody>
      <dsp:txXfrm>
        <a:off x="5038598" y="3722"/>
        <a:ext cx="5105898" cy="2309316"/>
      </dsp:txXfrm>
    </dsp:sp>
    <dsp:sp modelId="{2F3A0137-63F8-124E-BB5D-33401696B3DF}">
      <dsp:nvSpPr>
        <dsp:cNvPr id="0" name=""/>
        <dsp:cNvSpPr/>
      </dsp:nvSpPr>
      <dsp:spPr>
        <a:xfrm>
          <a:off x="2523753" y="3722"/>
          <a:ext cx="2286223" cy="23093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1000" r="-1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B0ABC-72DA-634C-B7E0-83A5F7E77BD2}">
      <dsp:nvSpPr>
        <dsp:cNvPr id="0" name=""/>
        <dsp:cNvSpPr/>
      </dsp:nvSpPr>
      <dsp:spPr>
        <a:xfrm>
          <a:off x="2523753" y="2694076"/>
          <a:ext cx="5105898" cy="2309316"/>
        </a:xfrm>
        <a:prstGeom prst="rect">
          <a:avLst/>
        </a:prstGeom>
        <a:solidFill>
          <a:srgbClr val="7030A0"/>
        </a:solid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Adversarial attack</a:t>
          </a:r>
        </a:p>
      </dsp:txBody>
      <dsp:txXfrm>
        <a:off x="2523753" y="2694076"/>
        <a:ext cx="5105898" cy="2309316"/>
      </dsp:txXfrm>
    </dsp:sp>
    <dsp:sp modelId="{374F19AF-791E-7445-993D-40C699D0E66A}">
      <dsp:nvSpPr>
        <dsp:cNvPr id="0" name=""/>
        <dsp:cNvSpPr/>
      </dsp:nvSpPr>
      <dsp:spPr>
        <a:xfrm>
          <a:off x="7858274" y="2694076"/>
          <a:ext cx="2286223" cy="23093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000" r="-1000"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6D34A-C9AC-7444-865C-D538391C6F22}">
      <dsp:nvSpPr>
        <dsp:cNvPr id="0" name=""/>
        <dsp:cNvSpPr/>
      </dsp:nvSpPr>
      <dsp:spPr>
        <a:xfrm>
          <a:off x="5038598" y="5384430"/>
          <a:ext cx="5105898" cy="2309316"/>
        </a:xfrm>
        <a:prstGeom prst="rect">
          <a:avLst/>
        </a:prstGeom>
        <a:solidFill>
          <a:srgbClr val="7030A0"/>
        </a:solid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Robustness</a:t>
          </a:r>
        </a:p>
      </dsp:txBody>
      <dsp:txXfrm>
        <a:off x="5038598" y="5384430"/>
        <a:ext cx="5105898" cy="2309316"/>
      </dsp:txXfrm>
    </dsp:sp>
    <dsp:sp modelId="{BB2F26BD-5714-474A-8C92-B957C21E8320}">
      <dsp:nvSpPr>
        <dsp:cNvPr id="0" name=""/>
        <dsp:cNvSpPr/>
      </dsp:nvSpPr>
      <dsp:spPr>
        <a:xfrm>
          <a:off x="2523753" y="5384430"/>
          <a:ext cx="2286223" cy="23093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59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016F2-15FA-13E8-D19E-5EC261E7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366E0-63D8-8608-E913-3CB546A6E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54CDF-F5AD-5107-737F-9DDCDF1BE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/>
              <a:t>להוריד טקסט</a:t>
            </a:r>
          </a:p>
          <a:p>
            <a:pPr marL="0" algn="r" defTabSz="914400" rtl="1" eaLnBrk="1" latinLnBrk="0" hangingPunct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08B08-426D-9A73-007E-CB8D984F4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91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B455-5AF3-6289-5C8B-063A79132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4C99B-170F-9011-99B2-1DCE25211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4EA19-9C9B-D11C-F544-E6AEA545A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r" defTabSz="914400">
              <a:buFont typeface="Arial" panose="020B0604020202020204" pitchFamily="34" charset="0"/>
              <a:buChar char="•"/>
              <a:defRPr/>
            </a:pPr>
            <a:r>
              <a:rPr lang="he-IL" sz="1200">
                <a:solidFill>
                  <a:srgbClr val="D6D9D7"/>
                </a:solidFill>
                <a:latin typeface="DM Sans Medium"/>
                <a:cs typeface="DM Sans Medium" pitchFamily="34" charset="-120"/>
              </a:rPr>
              <a:t>להסביר שאנחנו עושים אותו פנס לכולם</a:t>
            </a:r>
          </a:p>
          <a:p>
            <a:pPr marL="342900" lvl="0" indent="-342900" algn="r" defTabSz="914400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srgbClr val="D6D9D7"/>
              </a:solidFill>
              <a:latin typeface="DM Sans Medium"/>
              <a:cs typeface="DM Sans Medium" pitchFamily="34" charset="-12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78FA1-7320-AAFC-C2FB-C9AB05752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1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20B7B-E218-F853-BB1A-D1A5F863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E690B-F435-FDD2-60F4-9ED730728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3B87A-8F72-8728-6FC6-64616278D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  <a:p>
            <a:pPr marL="0" algn="r" defTabSz="914400" rtl="1" eaLnBrk="1" latinLnBrk="0" hangingPunct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2C6BB-7847-0345-C0DC-72E1ED9B58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20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marL="0" algn="r" defTabSz="914400" rtl="1" eaLnBrk="1" latinLnBrk="0" hangingPunct="1"/>
            <a:r>
              <a:rPr lang="he-IL"/>
              <a:t>צריך לשנות לקובץ קטן שנוכל להוסיף </a:t>
            </a:r>
            <a:r>
              <a:rPr lang="he-IL" err="1"/>
              <a:t>לpgd</a:t>
            </a:r>
            <a:r>
              <a:rPr lang="he-IL"/>
              <a:t> את אותו הקובץ</a:t>
            </a:r>
          </a:p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1659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marL="0" algn="r" defTabSz="914400" rtl="1" eaLnBrk="1" latinLnBrk="0" hangingPunct="1"/>
            <a:r>
              <a:rPr lang="he-IL"/>
              <a:t>צריך לשנות לקובץ קטן שנוכל להוסיף </a:t>
            </a:r>
            <a:r>
              <a:rPr lang="he-IL" err="1"/>
              <a:t>לpgd</a:t>
            </a:r>
            <a:r>
              <a:rPr lang="he-IL"/>
              <a:t> את אותו הקובץ</a:t>
            </a:r>
          </a:p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2477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A00A3-AD97-64C4-9694-B3DCE309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D928B-E460-3B02-DEF4-1616CE91B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609F9-AAA2-D091-AD8C-985E152F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/>
              <a:t>להוסיף שקף על איך נראית המתקפה</a:t>
            </a:r>
          </a:p>
          <a:p>
            <a:pPr marL="0" algn="r" defTabSz="914400" rtl="1" eaLnBrk="1" latinLnBrk="0" hangingPunct="1"/>
            <a:r>
              <a:rPr lang="he-IL"/>
              <a:t>יותר פרמטרים</a:t>
            </a:r>
          </a:p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2207E-0965-8112-76D0-9724786103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06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1AB6-B004-5192-1CD9-69BFB060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D529D-A9ED-669F-DB88-32BBF929C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1940D-9CD5-0C10-B55A-107D8AA3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r" defTabSz="914400">
              <a:buFont typeface="Arial" panose="020B0604020202020204" pitchFamily="34" charset="0"/>
              <a:buChar char="•"/>
              <a:defRPr/>
            </a:pPr>
            <a:r>
              <a:rPr lang="he-IL" sz="1200">
                <a:solidFill>
                  <a:srgbClr val="D6D9D7"/>
                </a:solidFill>
                <a:latin typeface="DM Sans Medium"/>
                <a:cs typeface="DM Sans Medium" pitchFamily="34" charset="-120"/>
              </a:rPr>
              <a:t>להסביר שאנחנו עושים אותו פנס לכולם</a:t>
            </a:r>
          </a:p>
          <a:p>
            <a:pPr marL="342900" lvl="0" indent="-342900" algn="r" defTabSz="914400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srgbClr val="D6D9D7"/>
              </a:solidFill>
              <a:latin typeface="DM Sans Medium"/>
              <a:cs typeface="DM Sans Medium" pitchFamily="34" charset="-12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6D53-AE8E-C979-CC1D-1E99ADEEF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79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1AB6-B004-5192-1CD9-69BFB060F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D529D-A9ED-669F-DB88-32BBF929C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1940D-9CD5-0C10-B55A-107D8AA3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r" defTabSz="914400">
              <a:buFont typeface="Arial" panose="020B0604020202020204" pitchFamily="34" charset="0"/>
              <a:buChar char="•"/>
              <a:defRPr/>
            </a:pPr>
            <a:r>
              <a:rPr lang="he-IL" sz="1200">
                <a:solidFill>
                  <a:srgbClr val="D6D9D7"/>
                </a:solidFill>
                <a:latin typeface="DM Sans Medium"/>
                <a:cs typeface="DM Sans Medium" pitchFamily="34" charset="-120"/>
              </a:rPr>
              <a:t>להסביר שאנחנו עושים אותו פנס לכולם</a:t>
            </a:r>
          </a:p>
          <a:p>
            <a:pPr marL="342900" lvl="0" indent="-342900" algn="r" defTabSz="914400">
              <a:buFont typeface="Arial" panose="020B0604020202020204" pitchFamily="34" charset="0"/>
              <a:buChar char="•"/>
              <a:defRPr/>
            </a:pPr>
            <a:endParaRPr lang="en-US" sz="1200">
              <a:solidFill>
                <a:srgbClr val="D6D9D7"/>
              </a:solidFill>
              <a:latin typeface="DM Sans Medium"/>
              <a:cs typeface="DM Sans Medium" pitchFamily="34" charset="-12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6D53-AE8E-C979-CC1D-1E99ADEEF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097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C2D6-3D1F-D711-5262-12014DFC2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89A1D-E9B0-08E5-4108-332578EDA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213BA-2167-C024-9881-0DC5EE6DB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/>
              <a:t>להוריד טקסט –יותר מרווח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74708-ECF7-24A0-53DD-5D5B7D1A74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26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78E0-95AC-B227-533C-A40912B6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1D689-F548-3DDF-901F-9176EC893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9B8E7-4630-ABF6-B325-01D109A35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1921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B34E-CED3-C1D4-A6C1-CF39FADE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769FB-7226-6F17-E87B-55FB4CD76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FECA0-A2BC-087B-63AC-7BC4BB190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/>
              <a:t>להוריד את אחד השקפים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D7013-33F8-6967-2B7E-C1D734B20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663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/>
              <a:t>לרשום את ההנחות  שהנחנו </a:t>
            </a:r>
          </a:p>
          <a:p>
            <a:pPr marL="0" algn="r" defTabSz="914400" rtl="1" eaLnBrk="1" latinLnBrk="0" hangingPunct="1"/>
            <a:r>
              <a:rPr lang="he-IL"/>
              <a:t>להוסיף ״ יעילות כפונקציה של הגבולות״</a:t>
            </a:r>
          </a:p>
          <a:p>
            <a:pPr marL="0" algn="r" defTabSz="914400" rtl="1" eaLnBrk="1" latinLnBrk="0" hangingPunct="1"/>
            <a:endParaRPr lang="he-IL"/>
          </a:p>
          <a:p>
            <a:pPr marL="0" algn="r" defTabSz="914400" rtl="1" eaLnBrk="1" latinLnBrk="0" hangingPunct="1"/>
            <a:r>
              <a:rPr lang="he-IL"/>
              <a:t>כללי:</a:t>
            </a:r>
          </a:p>
          <a:p>
            <a:pPr marL="0" algn="r" defTabSz="914400" rtl="1" eaLnBrk="1" latinLnBrk="0" hangingPunct="1"/>
            <a:r>
              <a:rPr lang="he-IL"/>
              <a:t>הסבר ראשוני של מה שקורה</a:t>
            </a:r>
          </a:p>
          <a:p>
            <a:pPr marL="0" algn="r" defTabSz="914400" rtl="1" eaLnBrk="1" latinLnBrk="0" hangingPunct="1"/>
            <a:r>
              <a:rPr lang="he-IL"/>
              <a:t>הסבר דברים טכניים</a:t>
            </a:r>
          </a:p>
          <a:p>
            <a:pPr marL="0" algn="r" defTabSz="914400" rtl="1" eaLnBrk="1" latinLnBrk="0" hangingPunct="1"/>
            <a:endParaRPr lang="he-IL"/>
          </a:p>
          <a:p>
            <a:pPr marL="0" algn="r" defTabSz="914400" rtl="1" eaLnBrk="1" latinLnBrk="0" hangingPunct="1"/>
            <a:r>
              <a:rPr lang="he-IL"/>
              <a:t>להוסיף בולטים</a:t>
            </a:r>
          </a:p>
          <a:p>
            <a:pPr marL="0" algn="r" defTabSz="914400" rtl="1" eaLnBrk="1" latinLnBrk="0" hangingPunct="1"/>
            <a:r>
              <a:rPr lang="he-IL"/>
              <a:t>לתקן כותרות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E15E-5640-673B-B84E-A2A4EEDC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1D77B-98C4-A5F5-4498-2CD638131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B3DB4-C7C3-2093-E37C-A3A524ECB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/>
              <a:t>לרשום את ההנחות  שהנחנו </a:t>
            </a:r>
          </a:p>
          <a:p>
            <a:pPr marL="0" algn="r" defTabSz="914400" rtl="1" eaLnBrk="1" latinLnBrk="0" hangingPunct="1"/>
            <a:r>
              <a:rPr lang="he-IL"/>
              <a:t>להוסיף ״ יעילות כפונקציה של הגבולות״</a:t>
            </a:r>
          </a:p>
          <a:p>
            <a:pPr marL="0" algn="r" defTabSz="914400" rtl="1" eaLnBrk="1" latinLnBrk="0" hangingPunct="1"/>
            <a:endParaRPr lang="he-IL"/>
          </a:p>
          <a:p>
            <a:pPr marL="0" algn="r" defTabSz="914400" rtl="1" eaLnBrk="1" latinLnBrk="0" hangingPunct="1"/>
            <a:r>
              <a:rPr lang="he-IL"/>
              <a:t>כללי:</a:t>
            </a:r>
          </a:p>
          <a:p>
            <a:pPr marL="0" algn="r" defTabSz="914400" rtl="1" eaLnBrk="1" latinLnBrk="0" hangingPunct="1"/>
            <a:r>
              <a:rPr lang="he-IL"/>
              <a:t>הסבר ראשוני של מה שקורה</a:t>
            </a:r>
          </a:p>
          <a:p>
            <a:pPr marL="0" algn="r" defTabSz="914400" rtl="1" eaLnBrk="1" latinLnBrk="0" hangingPunct="1"/>
            <a:r>
              <a:rPr lang="he-IL"/>
              <a:t>הסבר דברים טכניים</a:t>
            </a:r>
          </a:p>
          <a:p>
            <a:pPr marL="0" algn="r" defTabSz="914400" rtl="1" eaLnBrk="1" latinLnBrk="0" hangingPunct="1"/>
            <a:endParaRPr lang="he-IL"/>
          </a:p>
          <a:p>
            <a:pPr marL="0" algn="r" defTabSz="914400" rtl="1" eaLnBrk="1" latinLnBrk="0" hangingPunct="1"/>
            <a:r>
              <a:rPr lang="he-IL"/>
              <a:t>להוסיף בולטים</a:t>
            </a:r>
          </a:p>
          <a:p>
            <a:pPr marL="0" algn="r" defTabSz="914400" rtl="1" eaLnBrk="1" latinLnBrk="0" hangingPunct="1"/>
            <a:r>
              <a:rPr lang="he-IL"/>
              <a:t>לתקן כותרות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2D365-7056-8AF2-91CA-B6500E639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4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920240" y="2864093"/>
            <a:ext cx="10789920" cy="197510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56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4233" y="5223053"/>
            <a:ext cx="8161934" cy="14878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899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310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920240" y="2864093"/>
            <a:ext cx="10789920" cy="197510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456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4233" y="5222958"/>
            <a:ext cx="8161934" cy="1518098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629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8295" y="3165653"/>
            <a:ext cx="5126125" cy="37223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05979" y="3165653"/>
            <a:ext cx="5124296" cy="37223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64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123" y="2776120"/>
            <a:ext cx="5124298" cy="844904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80" b="0" cap="all" spc="12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0123" y="3771900"/>
            <a:ext cx="5124298" cy="311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5979" y="3771900"/>
            <a:ext cx="5104181" cy="311613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605979" y="2776120"/>
            <a:ext cx="5124298" cy="844904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80" b="0" cap="all" spc="12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1819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082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134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65607" y="2692594"/>
            <a:ext cx="5383987" cy="136979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64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3296" y="965607"/>
            <a:ext cx="5779008" cy="6298387"/>
          </a:xfrm>
        </p:spPr>
        <p:txBody>
          <a:bodyPr>
            <a:normAutofit/>
          </a:bodyPr>
          <a:lstStyle>
            <a:lvl1pPr>
              <a:defRPr sz="2280">
                <a:solidFill>
                  <a:schemeClr val="tx1"/>
                </a:solidFill>
              </a:defRPr>
            </a:lvl1pPr>
            <a:lvl2pPr>
              <a:defRPr sz="1920">
                <a:solidFill>
                  <a:schemeClr val="tx1"/>
                </a:solidFill>
              </a:defRPr>
            </a:lvl2pPr>
            <a:lvl3pPr>
              <a:defRPr sz="1920">
                <a:solidFill>
                  <a:schemeClr val="tx1"/>
                </a:solidFill>
              </a:defRPr>
            </a:lvl3pPr>
            <a:lvl4pPr>
              <a:defRPr sz="1920">
                <a:solidFill>
                  <a:schemeClr val="tx1"/>
                </a:solidFill>
              </a:defRPr>
            </a:lvl4pPr>
            <a:lvl5pPr>
              <a:defRPr sz="1920">
                <a:solidFill>
                  <a:schemeClr val="tx1"/>
                </a:solidFill>
              </a:defRPr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682" y="4259902"/>
            <a:ext cx="4553712" cy="2632843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65607" y="7483450"/>
            <a:ext cx="6149756" cy="384048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3058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731519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70227" y="2692594"/>
            <a:ext cx="5393998" cy="136156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64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15200" y="0"/>
            <a:ext cx="7322516" cy="82296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84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682" y="4259902"/>
            <a:ext cx="4553712" cy="2632844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16C4C9A-3960-41CF-A4E9-2A8FB932454B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65607" y="7483450"/>
            <a:ext cx="6149756" cy="384048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550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237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3734" y="1124712"/>
            <a:ext cx="1558330" cy="59801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7364" y="1124712"/>
            <a:ext cx="7438187" cy="59801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821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853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058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229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543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664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7932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088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677363" y="1157630"/>
            <a:ext cx="9275674" cy="1426464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7363" y="3165653"/>
            <a:ext cx="9275674" cy="3722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5715" y="7486579"/>
            <a:ext cx="3304495" cy="38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1" y="7483450"/>
            <a:ext cx="7081427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0706" y="7461504"/>
            <a:ext cx="438912" cy="438912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320" spc="0" baseline="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44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8" r:id="rId17"/>
    <p:sldLayoutId id="2147483699" r:id="rId18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3360" kern="1200" cap="all" spc="24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216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9728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37160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75436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1781176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5933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jpe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7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image" Target="../media/image28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6.png"/><Relationship Id="rId11" Type="http://schemas.openxmlformats.org/officeDocument/2006/relationships/image" Target="../media/image48.png"/><Relationship Id="rId5" Type="http://schemas.openxmlformats.org/officeDocument/2006/relationships/image" Target="../media/image30.png"/><Relationship Id="rId15" Type="http://schemas.openxmlformats.org/officeDocument/2006/relationships/image" Target="../media/image36.png"/><Relationship Id="rId10" Type="http://schemas.openxmlformats.org/officeDocument/2006/relationships/image" Target="../media/image33.png"/><Relationship Id="rId4" Type="http://schemas.openxmlformats.org/officeDocument/2006/relationships/image" Target="../media/image45.png"/><Relationship Id="rId9" Type="http://schemas.openxmlformats.org/officeDocument/2006/relationships/image" Target="../media/image47.png"/><Relationship Id="rId1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VISTA Project: Robust Visual Odometry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Shay Rozin &amp; Nitay Amiel, under supervision of Tamir Shor.</a:t>
            </a:r>
            <a:endParaRPr lang="en-US" sz="1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159C1-9DC1-F311-397C-CC6DBE4A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602D133-34F6-7E4D-CB34-6DADEDCC9340}"/>
              </a:ext>
            </a:extLst>
          </p:cNvPr>
          <p:cNvSpPr/>
          <p:nvPr/>
        </p:nvSpPr>
        <p:spPr>
          <a:xfrm>
            <a:off x="4789716" y="3714989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Motivation</a:t>
            </a:r>
            <a:endParaRPr lang="en-US" sz="615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2D5084C-1BF8-D67C-68F4-ABC870889B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4419753"/>
              </p:ext>
            </p:extLst>
          </p:nvPr>
        </p:nvGraphicFramePr>
        <p:xfrm>
          <a:off x="-2219328" y="268224"/>
          <a:ext cx="12668251" cy="76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93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0C85-40E5-179D-E491-3FB543ADD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0734D3-D9C2-E222-BD32-E6DC799E90CF}"/>
              </a:ext>
            </a:extLst>
          </p:cNvPr>
          <p:cNvSpPr/>
          <p:nvPr/>
        </p:nvSpPr>
        <p:spPr>
          <a:xfrm>
            <a:off x="5827871" y="648057"/>
            <a:ext cx="29746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APPROACH</a:t>
            </a:r>
            <a:endParaRPr lang="en-US" sz="2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2A32B3-857C-6D00-2CFE-569DA32F846D}"/>
              </a:ext>
            </a:extLst>
          </p:cNvPr>
          <p:cNvSpPr/>
          <p:nvPr/>
        </p:nvSpPr>
        <p:spPr>
          <a:xfrm>
            <a:off x="1291095" y="1127841"/>
            <a:ext cx="6874632" cy="185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300"/>
              </a:lnSpc>
            </a:pPr>
            <a:r>
              <a:rPr lang="en-US" sz="5850">
                <a:solidFill>
                  <a:srgbClr val="F7F7F8"/>
                </a:solidFill>
                <a:latin typeface="DM Sans Medium"/>
                <a:ea typeface="DM Sans Medium" pitchFamily="34" charset="-122"/>
                <a:cs typeface="DM Sans Medium" pitchFamily="34" charset="-120"/>
              </a:rPr>
              <a:t>Optimizing the spotlight</a:t>
            </a:r>
            <a:endParaRPr lang="en-US" sz="5850">
              <a:latin typeface="DM Sans Medium"/>
            </a:endParaRPr>
          </a:p>
        </p:txBody>
      </p:sp>
      <p:pic>
        <p:nvPicPr>
          <p:cNvPr id="30" name="Graphic 29" descr="Medieval Armor outline">
            <a:extLst>
              <a:ext uri="{FF2B5EF4-FFF2-40B4-BE49-F238E27FC236}">
                <a16:creationId xmlns:a16="http://schemas.microsoft.com/office/drawing/2014/main" id="{F657FD36-A583-AFDB-E308-0152FD23D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9369" y="815191"/>
            <a:ext cx="6986336" cy="699435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FFA95207-73C6-5F02-0087-E17EAFFFF52E}"/>
              </a:ext>
            </a:extLst>
          </p:cNvPr>
          <p:cNvGrpSpPr/>
          <p:nvPr/>
        </p:nvGrpSpPr>
        <p:grpSpPr>
          <a:xfrm>
            <a:off x="10522679" y="2800413"/>
            <a:ext cx="2391569" cy="2031331"/>
            <a:chOff x="10601325" y="6257925"/>
            <a:chExt cx="1541339" cy="1485900"/>
          </a:xfrm>
        </p:grpSpPr>
        <p:pic>
          <p:nvPicPr>
            <p:cNvPr id="6" name="Graphic 5" descr="Flashlight with solid fill">
              <a:extLst>
                <a:ext uri="{FF2B5EF4-FFF2-40B4-BE49-F238E27FC236}">
                  <a16:creationId xmlns:a16="http://schemas.microsoft.com/office/drawing/2014/main" id="{03797FBA-0E88-8AEC-BB5F-984F32E43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01325" y="6829425"/>
              <a:ext cx="914400" cy="914400"/>
            </a:xfrm>
            <a:prstGeom prst="rect">
              <a:avLst/>
            </a:prstGeom>
          </p:spPr>
        </p:pic>
        <p:sp>
          <p:nvSpPr>
            <p:cNvPr id="18" name="Flowchart: Terminator 17">
              <a:extLst>
                <a:ext uri="{FF2B5EF4-FFF2-40B4-BE49-F238E27FC236}">
                  <a16:creationId xmlns:a16="http://schemas.microsoft.com/office/drawing/2014/main" id="{66282650-4EE2-BD3D-D66E-2CBAD880946F}"/>
                </a:ext>
              </a:extLst>
            </p:cNvPr>
            <p:cNvSpPr/>
            <p:nvPr/>
          </p:nvSpPr>
          <p:spPr>
            <a:xfrm rot="1200000">
              <a:off x="11355057" y="6257925"/>
              <a:ext cx="100822" cy="610318"/>
            </a:xfrm>
            <a:prstGeom prst="flowChartTermina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Terminator 18">
              <a:extLst>
                <a:ext uri="{FF2B5EF4-FFF2-40B4-BE49-F238E27FC236}">
                  <a16:creationId xmlns:a16="http://schemas.microsoft.com/office/drawing/2014/main" id="{881EFEB7-D746-7A47-E18C-CCDA6728E1CD}"/>
                </a:ext>
              </a:extLst>
            </p:cNvPr>
            <p:cNvSpPr/>
            <p:nvPr/>
          </p:nvSpPr>
          <p:spPr>
            <a:xfrm rot="2280000">
              <a:off x="11584879" y="6355721"/>
              <a:ext cx="100822" cy="610318"/>
            </a:xfrm>
            <a:prstGeom prst="flowChartTermina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Terminator 20">
              <a:extLst>
                <a:ext uri="{FF2B5EF4-FFF2-40B4-BE49-F238E27FC236}">
                  <a16:creationId xmlns:a16="http://schemas.microsoft.com/office/drawing/2014/main" id="{B167FE43-C81A-24A6-69C4-E1B12DD0305E}"/>
                </a:ext>
              </a:extLst>
            </p:cNvPr>
            <p:cNvSpPr/>
            <p:nvPr/>
          </p:nvSpPr>
          <p:spPr>
            <a:xfrm rot="4020000">
              <a:off x="11769980" y="6561262"/>
              <a:ext cx="100822" cy="644546"/>
            </a:xfrm>
            <a:prstGeom prst="flowChartTermina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 5">
            <a:extLst>
              <a:ext uri="{FF2B5EF4-FFF2-40B4-BE49-F238E27FC236}">
                <a16:creationId xmlns:a16="http://schemas.microsoft.com/office/drawing/2014/main" id="{4DE2F962-A5D3-1786-DD53-3CB9A7897108}"/>
              </a:ext>
            </a:extLst>
          </p:cNvPr>
          <p:cNvSpPr/>
          <p:nvPr/>
        </p:nvSpPr>
        <p:spPr>
          <a:xfrm>
            <a:off x="1291094" y="3581694"/>
            <a:ext cx="7947193" cy="422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6D9D7"/>
                </a:solidFill>
                <a:latin typeface="DM Sans Medium"/>
              </a:rPr>
              <a:t>Project a static spotlight in the scene</a:t>
            </a:r>
            <a:br>
              <a:rPr lang="en-US" sz="2400" dirty="0">
                <a:solidFill>
                  <a:srgbClr val="D6D9D7"/>
                </a:solidFill>
                <a:latin typeface="DM Sans Medium"/>
              </a:rPr>
            </a:br>
            <a:endParaRPr lang="en-US" sz="2400" dirty="0">
              <a:solidFill>
                <a:srgbClr val="D6D9D7"/>
              </a:solidFill>
              <a:latin typeface="DM Sans Mediu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6D9D7"/>
                </a:solidFill>
                <a:latin typeface="DM Sans Medium"/>
              </a:rPr>
              <a:t>Visible to </a:t>
            </a:r>
            <a:r>
              <a:rPr lang="en-US" sz="2400">
                <a:solidFill>
                  <a:srgbClr val="D6D9D7"/>
                </a:solidFill>
                <a:latin typeface="DM Sans Medium"/>
              </a:rPr>
              <a:t>the drone</a:t>
            </a:r>
            <a:br>
              <a:rPr lang="en-US" sz="2400">
                <a:solidFill>
                  <a:srgbClr val="D6D9D7"/>
                </a:solidFill>
                <a:latin typeface="DM Sans Medium"/>
              </a:rPr>
            </a:br>
            <a:endParaRPr lang="en-US" sz="2000" dirty="0"/>
          </a:p>
          <a:p>
            <a:pPr marL="342900" lvl="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D6D9D7"/>
                </a:solidFill>
                <a:latin typeface="DM Sans Medium"/>
                <a:cs typeface="DM Sans Medium" pitchFamily="34" charset="-120"/>
              </a:rPr>
              <a:t>A distinctive pattern for improving localization</a:t>
            </a:r>
          </a:p>
        </p:txBody>
      </p:sp>
    </p:spTree>
    <p:extLst>
      <p:ext uri="{BB962C8B-B14F-4D97-AF65-F5344CB8AC3E}">
        <p14:creationId xmlns:p14="http://schemas.microsoft.com/office/powerpoint/2010/main" val="247834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3017-68EF-A6BE-96BD-C8576166A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FC3309-CA02-76F9-E6F5-99F36E6F0892}"/>
              </a:ext>
            </a:extLst>
          </p:cNvPr>
          <p:cNvSpPr/>
          <p:nvPr/>
        </p:nvSpPr>
        <p:spPr>
          <a:xfrm>
            <a:off x="5531822" y="984291"/>
            <a:ext cx="3566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PIPELINE</a:t>
            </a:r>
            <a:endParaRPr lang="en-US" sz="2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6DEABA-67C2-0C3C-ED5E-53BCF2E5528D}"/>
              </a:ext>
            </a:extLst>
          </p:cNvPr>
          <p:cNvSpPr/>
          <p:nvPr/>
        </p:nvSpPr>
        <p:spPr>
          <a:xfrm>
            <a:off x="793788" y="1474709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defTabSz="457200" rtl="1" eaLnBrk="1" latinLnBrk="0" hangingPunct="1">
              <a:lnSpc>
                <a:spcPts val="7700"/>
              </a:lnSpc>
              <a:buNone/>
            </a:pPr>
            <a:endParaRPr lang="en-US" sz="615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714DF6-76B9-1317-A2D9-CEDE2A103432}"/>
              </a:ext>
            </a:extLst>
          </p:cNvPr>
          <p:cNvSpPr/>
          <p:nvPr/>
        </p:nvSpPr>
        <p:spPr>
          <a:xfrm>
            <a:off x="939030" y="1451476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defTabSz="457200" rtl="0" eaLnBrk="1" latinLnBrk="0" hangingPunct="1">
              <a:lnSpc>
                <a:spcPts val="7700"/>
              </a:lnSpc>
              <a:buNone/>
            </a:pPr>
            <a:r>
              <a:rPr lang="en-US" sz="6150">
                <a:latin typeface="DM Sans Medium" pitchFamily="34" charset="0"/>
                <a:cs typeface="DM Sans Medium" pitchFamily="34" charset="-120"/>
              </a:rPr>
              <a:t>Project Overview</a:t>
            </a:r>
            <a:endParaRPr lang="en-US" sz="615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D998437-DF98-B178-8A4F-4CB4C9299F14}"/>
              </a:ext>
            </a:extLst>
          </p:cNvPr>
          <p:cNvSpPr/>
          <p:nvPr/>
        </p:nvSpPr>
        <p:spPr>
          <a:xfrm>
            <a:off x="447079" y="4638745"/>
            <a:ext cx="3316171" cy="16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150"/>
              </a:lnSpc>
            </a:pPr>
            <a:r>
              <a:rPr lang="en-US" sz="2800">
                <a:latin typeface="DM Sans Medium"/>
              </a:rPr>
              <a:t>Multiple Track</a:t>
            </a:r>
            <a:endParaRPr lang="en-US"/>
          </a:p>
          <a:p>
            <a:pPr algn="ctr">
              <a:lnSpc>
                <a:spcPts val="3150"/>
              </a:lnSpc>
            </a:pPr>
            <a:r>
              <a:rPr lang="en-US" sz="2800">
                <a:latin typeface="DM Sans Medium"/>
                <a:ea typeface="DM Sans Medium" pitchFamily="34" charset="-122"/>
                <a:cs typeface="DM Sans Medium" pitchFamily="34" charset="-120"/>
              </a:rPr>
              <a:t> Generation</a:t>
            </a:r>
            <a:endParaRPr lang="en-US" sz="28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B861A6-0478-2176-F0A5-A3ECD7ECD36D}"/>
              </a:ext>
            </a:extLst>
          </p:cNvPr>
          <p:cNvGrpSpPr/>
          <p:nvPr/>
        </p:nvGrpSpPr>
        <p:grpSpPr>
          <a:xfrm>
            <a:off x="5892479" y="4422891"/>
            <a:ext cx="2248861" cy="1459752"/>
            <a:chOff x="5213211" y="3058597"/>
            <a:chExt cx="5575262" cy="485573"/>
          </a:xfrm>
        </p:grpSpPr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82062CD8-FF95-ED79-03DB-DD783966BE9D}"/>
                </a:ext>
              </a:extLst>
            </p:cNvPr>
            <p:cNvSpPr/>
            <p:nvPr/>
          </p:nvSpPr>
          <p:spPr>
            <a:xfrm>
              <a:off x="5213211" y="3058597"/>
              <a:ext cx="361688" cy="2876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endParaRPr lang="en-US" sz="1650"/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4FBD3B93-4700-8763-E57F-B52C96AE2DCB}"/>
                </a:ext>
              </a:extLst>
            </p:cNvPr>
            <p:cNvSpPr/>
            <p:nvPr/>
          </p:nvSpPr>
          <p:spPr>
            <a:xfrm>
              <a:off x="6675225" y="3140191"/>
              <a:ext cx="4113248" cy="403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150"/>
                </a:lnSpc>
                <a:buNone/>
              </a:pPr>
              <a:r>
                <a:rPr lang="en-US" sz="2500"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Noise </a:t>
              </a:r>
            </a:p>
            <a:p>
              <a:pPr marL="0" indent="0" algn="ctr">
                <a:lnSpc>
                  <a:spcPts val="3150"/>
                </a:lnSpc>
                <a:buNone/>
              </a:pPr>
              <a:r>
                <a:rPr lang="en-US" sz="2500"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Injection</a:t>
              </a:r>
              <a:endParaRPr lang="en-US" sz="2500"/>
            </a:p>
          </p:txBody>
        </p:sp>
      </p:grpSp>
      <p:sp>
        <p:nvSpPr>
          <p:cNvPr id="16" name="Text 13">
            <a:extLst>
              <a:ext uri="{FF2B5EF4-FFF2-40B4-BE49-F238E27FC236}">
                <a16:creationId xmlns:a16="http://schemas.microsoft.com/office/drawing/2014/main" id="{35869BCE-7545-696F-4E8A-C727EACF6F8D}"/>
              </a:ext>
            </a:extLst>
          </p:cNvPr>
          <p:cNvSpPr/>
          <p:nvPr/>
        </p:nvSpPr>
        <p:spPr>
          <a:xfrm>
            <a:off x="10807921" y="4689057"/>
            <a:ext cx="2898157" cy="33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50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Light</a:t>
            </a:r>
          </a:p>
          <a:p>
            <a:pPr marL="0" indent="0" algn="ctr">
              <a:lnSpc>
                <a:spcPts val="3150"/>
              </a:lnSpc>
              <a:buNone/>
            </a:pPr>
            <a:r>
              <a:rPr lang="en-US" sz="2500"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Optimization</a:t>
            </a:r>
            <a:endParaRPr lang="en-US" sz="2500"/>
          </a:p>
        </p:txBody>
      </p:sp>
      <p:sp>
        <p:nvSpPr>
          <p:cNvPr id="19" name="Notched Right Arrow 18">
            <a:extLst>
              <a:ext uri="{FF2B5EF4-FFF2-40B4-BE49-F238E27FC236}">
                <a16:creationId xmlns:a16="http://schemas.microsoft.com/office/drawing/2014/main" id="{3F2CEC87-934F-7D8F-E933-77DEA7E3C16E}"/>
              </a:ext>
            </a:extLst>
          </p:cNvPr>
          <p:cNvSpPr/>
          <p:nvPr/>
        </p:nvSpPr>
        <p:spPr>
          <a:xfrm>
            <a:off x="4348783" y="4422896"/>
            <a:ext cx="1058779" cy="559704"/>
          </a:xfrm>
          <a:prstGeom prst="notched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p:sp>
        <p:nvSpPr>
          <p:cNvPr id="22" name="Notched Right Arrow 21">
            <a:extLst>
              <a:ext uri="{FF2B5EF4-FFF2-40B4-BE49-F238E27FC236}">
                <a16:creationId xmlns:a16="http://schemas.microsoft.com/office/drawing/2014/main" id="{3C0D7348-9977-4C91-63DB-2431D77282B1}"/>
              </a:ext>
            </a:extLst>
          </p:cNvPr>
          <p:cNvSpPr/>
          <p:nvPr/>
        </p:nvSpPr>
        <p:spPr>
          <a:xfrm>
            <a:off x="8860171" y="4422973"/>
            <a:ext cx="1058779" cy="589045"/>
          </a:xfrm>
          <a:prstGeom prst="notched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tx1"/>
              </a:solidFill>
            </a:endParaRPr>
          </a:p>
        </p:txBody>
      </p:sp>
      <p:pic>
        <p:nvPicPr>
          <p:cNvPr id="23" name="Graphic 22" descr="Route (Two Pins With A Path) with solid fill">
            <a:extLst>
              <a:ext uri="{FF2B5EF4-FFF2-40B4-BE49-F238E27FC236}">
                <a16:creationId xmlns:a16="http://schemas.microsoft.com/office/drawing/2014/main" id="{5333A8F6-C13E-42E8-AE9F-1E8A4771E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099" y="3617217"/>
            <a:ext cx="914400" cy="914400"/>
          </a:xfrm>
          <a:prstGeom prst="rect">
            <a:avLst/>
          </a:prstGeom>
        </p:spPr>
      </p:pic>
      <p:pic>
        <p:nvPicPr>
          <p:cNvPr id="24" name="Graphic 23" descr="Devil face with solid fill with solid fill">
            <a:extLst>
              <a:ext uri="{FF2B5EF4-FFF2-40B4-BE49-F238E27FC236}">
                <a16:creationId xmlns:a16="http://schemas.microsoft.com/office/drawing/2014/main" id="{13B2BF30-299D-C84C-C3F7-A7EEA023B2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3568" y="3724345"/>
            <a:ext cx="914400" cy="914400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9303CFC8-FC1B-76ED-CA3F-8E39DD8DD50A}"/>
              </a:ext>
            </a:extLst>
          </p:cNvPr>
          <p:cNvSpPr/>
          <p:nvPr/>
        </p:nvSpPr>
        <p:spPr>
          <a:xfrm>
            <a:off x="447078" y="5636520"/>
            <a:ext cx="3316171" cy="16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endParaRPr lang="en-US"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pic>
        <p:nvPicPr>
          <p:cNvPr id="28" name="Graphic 27" descr="Route (Two Pins With A Path) with solid fill">
            <a:extLst>
              <a:ext uri="{FF2B5EF4-FFF2-40B4-BE49-F238E27FC236}">
                <a16:creationId xmlns:a16="http://schemas.microsoft.com/office/drawing/2014/main" id="{CBE92203-B0C2-A201-12A9-A266A6164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2074" y="3626742"/>
            <a:ext cx="914400" cy="914400"/>
          </a:xfrm>
          <a:prstGeom prst="rect">
            <a:avLst/>
          </a:prstGeom>
        </p:spPr>
      </p:pic>
      <p:pic>
        <p:nvPicPr>
          <p:cNvPr id="29" name="Graphic 28" descr="Route (Two Pins With A Path) with solid fill">
            <a:extLst>
              <a:ext uri="{FF2B5EF4-FFF2-40B4-BE49-F238E27FC236}">
                <a16:creationId xmlns:a16="http://schemas.microsoft.com/office/drawing/2014/main" id="{BBCCEE42-8AFD-FB17-2FCF-4DA53034D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374" y="3626742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BBA3080-57AD-B595-424E-A4F4F10A8E7A}"/>
              </a:ext>
            </a:extLst>
          </p:cNvPr>
          <p:cNvGrpSpPr/>
          <p:nvPr/>
        </p:nvGrpSpPr>
        <p:grpSpPr>
          <a:xfrm>
            <a:off x="10568200" y="3639484"/>
            <a:ext cx="1541339" cy="1485900"/>
            <a:chOff x="10601325" y="6257925"/>
            <a:chExt cx="1541339" cy="1485900"/>
          </a:xfrm>
        </p:grpSpPr>
        <p:pic>
          <p:nvPicPr>
            <p:cNvPr id="31" name="Graphic 30" descr="Flashlight with solid fill">
              <a:extLst>
                <a:ext uri="{FF2B5EF4-FFF2-40B4-BE49-F238E27FC236}">
                  <a16:creationId xmlns:a16="http://schemas.microsoft.com/office/drawing/2014/main" id="{6E00CD85-13CD-C5DF-C9B8-4A1B1D066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01325" y="6829425"/>
              <a:ext cx="914400" cy="914400"/>
            </a:xfrm>
            <a:prstGeom prst="rect">
              <a:avLst/>
            </a:prstGeom>
          </p:spPr>
        </p:pic>
        <p:sp>
          <p:nvSpPr>
            <p:cNvPr id="32" name="Flowchart: Terminator 17">
              <a:extLst>
                <a:ext uri="{FF2B5EF4-FFF2-40B4-BE49-F238E27FC236}">
                  <a16:creationId xmlns:a16="http://schemas.microsoft.com/office/drawing/2014/main" id="{B95F5A87-CEC9-C096-29E1-7C556B6F59A4}"/>
                </a:ext>
              </a:extLst>
            </p:cNvPr>
            <p:cNvSpPr/>
            <p:nvPr/>
          </p:nvSpPr>
          <p:spPr>
            <a:xfrm rot="1200000">
              <a:off x="11355057" y="6257925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Flowchart: Terminator 18">
              <a:extLst>
                <a:ext uri="{FF2B5EF4-FFF2-40B4-BE49-F238E27FC236}">
                  <a16:creationId xmlns:a16="http://schemas.microsoft.com/office/drawing/2014/main" id="{7ED6A9BB-7892-DD47-8B76-68658DEE5F3D}"/>
                </a:ext>
              </a:extLst>
            </p:cNvPr>
            <p:cNvSpPr/>
            <p:nvPr/>
          </p:nvSpPr>
          <p:spPr>
            <a:xfrm rot="2280000">
              <a:off x="11584879" y="6355721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Flowchart: Terminator 20">
              <a:extLst>
                <a:ext uri="{FF2B5EF4-FFF2-40B4-BE49-F238E27FC236}">
                  <a16:creationId xmlns:a16="http://schemas.microsoft.com/office/drawing/2014/main" id="{12E2EB69-86CA-93D9-1F79-5AF89C582C59}"/>
                </a:ext>
              </a:extLst>
            </p:cNvPr>
            <p:cNvSpPr/>
            <p:nvPr/>
          </p:nvSpPr>
          <p:spPr>
            <a:xfrm rot="4020000">
              <a:off x="11769980" y="6561262"/>
              <a:ext cx="100822" cy="644546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6" name="Graphic 35" descr="Medieval Armor outline">
            <a:extLst>
              <a:ext uri="{FF2B5EF4-FFF2-40B4-BE49-F238E27FC236}">
                <a16:creationId xmlns:a16="http://schemas.microsoft.com/office/drawing/2014/main" id="{3F03C4AF-358E-B0C9-5641-677666405D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888027" y="39396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6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CF2D556-FF8E-59D3-6C20-D502E03679B7}"/>
              </a:ext>
            </a:extLst>
          </p:cNvPr>
          <p:cNvSpPr/>
          <p:nvPr/>
        </p:nvSpPr>
        <p:spPr>
          <a:xfrm>
            <a:off x="793790" y="1313974"/>
            <a:ext cx="13042821" cy="176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900"/>
              </a:lnSpc>
              <a:buNone/>
            </a:pPr>
            <a:r>
              <a:rPr lang="en-US" sz="55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DPVO </a:t>
            </a:r>
            <a:endParaRPr lang="he-IL" sz="5500">
              <a:solidFill>
                <a:srgbClr val="F7F7F8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  <a:p>
            <a:pPr marL="0" indent="0" algn="ctr">
              <a:lnSpc>
                <a:spcPts val="6900"/>
              </a:lnSpc>
              <a:buNone/>
            </a:pPr>
            <a:endParaRPr lang="en-US" sz="55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34A986-4ABF-A936-9834-1C5286BF9019}"/>
              </a:ext>
            </a:extLst>
          </p:cNvPr>
          <p:cNvCxnSpPr>
            <a:cxnSpLocks/>
          </p:cNvCxnSpPr>
          <p:nvPr/>
        </p:nvCxnSpPr>
        <p:spPr>
          <a:xfrm rot="5400000">
            <a:off x="10633587" y="4242424"/>
            <a:ext cx="996637" cy="0"/>
          </a:xfrm>
          <a:prstGeom prst="straightConnector1">
            <a:avLst/>
          </a:prstGeom>
          <a:ln w="666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blue line drawn on a graph&#10;&#10;AI-generated content may be incorrect.">
            <a:extLst>
              <a:ext uri="{FF2B5EF4-FFF2-40B4-BE49-F238E27FC236}">
                <a16:creationId xmlns:a16="http://schemas.microsoft.com/office/drawing/2014/main" id="{7E78CB60-F59E-3E7A-1CEA-EE3433F7E6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6320" r="1266"/>
          <a:stretch>
            <a:fillRect/>
          </a:stretch>
        </p:blipFill>
        <p:spPr>
          <a:xfrm rot="16200000">
            <a:off x="9707090" y="4549345"/>
            <a:ext cx="2797968" cy="3841749"/>
          </a:xfrm>
          <a:prstGeom prst="rect">
            <a:avLst/>
          </a:prstGeom>
        </p:spPr>
      </p:pic>
      <p:pic>
        <p:nvPicPr>
          <p:cNvPr id="8" name="movie0000-0150.mp4">
            <a:hlinkClick r:id="" action="ppaction://media"/>
            <a:extLst>
              <a:ext uri="{FF2B5EF4-FFF2-40B4-BE49-F238E27FC236}">
                <a16:creationId xmlns:a16="http://schemas.microsoft.com/office/drawing/2014/main" id="{4604E0FC-6E7C-9C84-574F-CA92A66C39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85197" y="899547"/>
            <a:ext cx="3946158" cy="2589312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00D7B05-2B3C-DFE9-F9A3-49A7154F87A9}"/>
              </a:ext>
            </a:extLst>
          </p:cNvPr>
          <p:cNvSpPr/>
          <p:nvPr/>
        </p:nvSpPr>
        <p:spPr>
          <a:xfrm>
            <a:off x="1242954" y="3036954"/>
            <a:ext cx="7947193" cy="422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Tracking camera motion from video</a:t>
            </a:r>
            <a:br>
              <a:rPr lang="en-US" sz="2400">
                <a:latin typeface="DM Sans" pitchFamily="2" charset="77"/>
              </a:rPr>
            </a:br>
            <a:endParaRPr lang="en-US" sz="2400">
              <a:latin typeface="DM Sans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RNN for sparse patch-based correspondence</a:t>
            </a:r>
            <a:br>
              <a:rPr lang="en-US" sz="2400">
                <a:latin typeface="DM Sans" pitchFamily="2" charset="77"/>
              </a:rPr>
            </a:br>
            <a:endParaRPr lang="en-US" sz="2400">
              <a:latin typeface="DM Sans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  <a:cs typeface="DM Sans Medium" pitchFamily="34" charset="-120"/>
              </a:rPr>
              <a:t>State of the art</a:t>
            </a:r>
            <a:endParaRPr lang="en-US" sz="2400">
              <a:latin typeface="DM Sans" pitchFamily="2" charset="77"/>
            </a:endParaRPr>
          </a:p>
        </p:txBody>
      </p:sp>
      <p:pic>
        <p:nvPicPr>
          <p:cNvPr id="11" name="Graphic 10" descr="Route (Two Pins With A Path) with solid fill">
            <a:extLst>
              <a:ext uri="{FF2B5EF4-FFF2-40B4-BE49-F238E27FC236}">
                <a16:creationId xmlns:a16="http://schemas.microsoft.com/office/drawing/2014/main" id="{F2CECBAE-22B8-ECC6-AF1C-9925655A9C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554" y="2523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86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9CF2D556-FF8E-59D3-6C20-D502E03679B7}"/>
              </a:ext>
            </a:extLst>
          </p:cNvPr>
          <p:cNvSpPr/>
          <p:nvPr/>
        </p:nvSpPr>
        <p:spPr>
          <a:xfrm>
            <a:off x="793790" y="1313974"/>
            <a:ext cx="13042821" cy="176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6900"/>
              </a:lnSpc>
            </a:pPr>
            <a:r>
              <a:rPr lang="en-US" sz="55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Tracks Generation</a:t>
            </a:r>
            <a:endParaRPr lang="he-IL" sz="5500">
              <a:solidFill>
                <a:srgbClr val="F7F7F8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  <a:p>
            <a:pPr marL="0" indent="0" algn="ctr">
              <a:lnSpc>
                <a:spcPts val="6900"/>
              </a:lnSpc>
              <a:buNone/>
            </a:pPr>
            <a:endParaRPr lang="en-US" sz="55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00D7B05-2B3C-DFE9-F9A3-49A7154F87A9}"/>
              </a:ext>
            </a:extLst>
          </p:cNvPr>
          <p:cNvSpPr/>
          <p:nvPr/>
        </p:nvSpPr>
        <p:spPr>
          <a:xfrm>
            <a:off x="1242954" y="3036954"/>
            <a:ext cx="5825503" cy="422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Ray tracing enabled</a:t>
            </a:r>
            <a:br>
              <a:rPr lang="en-US" sz="2400">
                <a:latin typeface="DM Sans" pitchFamily="2" charset="77"/>
              </a:rPr>
            </a:br>
            <a:endParaRPr lang="en-US" sz="2400">
              <a:latin typeface="DM Sans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Projecting a texture as spotlight</a:t>
            </a:r>
            <a:br>
              <a:rPr lang="en-US" sz="2400">
                <a:latin typeface="DM Sans" pitchFamily="2" charset="77"/>
              </a:rPr>
            </a:br>
            <a:endParaRPr lang="en-US" sz="2400">
              <a:latin typeface="DM Sans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  <a:cs typeface="DM Sans Medium" pitchFamily="34" charset="-120"/>
              </a:rPr>
              <a:t>Not differentiable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latin typeface="DM Sans" pitchFamily="2" charset="77"/>
            </a:endParaRPr>
          </a:p>
        </p:txBody>
      </p:sp>
      <p:pic>
        <p:nvPicPr>
          <p:cNvPr id="11" name="Graphic 10" descr="Route (Two Pins With A Path) with solid fill">
            <a:extLst>
              <a:ext uri="{FF2B5EF4-FFF2-40B4-BE49-F238E27FC236}">
                <a16:creationId xmlns:a16="http://schemas.microsoft.com/office/drawing/2014/main" id="{F2CECBAE-22B8-ECC6-AF1C-9925655A9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554" y="252378"/>
            <a:ext cx="914400" cy="9144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90A651F-74C3-2C93-7771-2D2D443337F5}"/>
              </a:ext>
            </a:extLst>
          </p:cNvPr>
          <p:cNvSpPr/>
          <p:nvPr/>
        </p:nvSpPr>
        <p:spPr>
          <a:xfrm>
            <a:off x="5665351" y="791051"/>
            <a:ext cx="32996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F7F7F8"/>
                </a:solidFill>
                <a:latin typeface="DM Sans Medium" pitchFamily="34" charset="0"/>
                <a:cs typeface="DM Sans Medium" pitchFamily="34" charset="-120"/>
              </a:rPr>
              <a:t>ENVIROMENT ASSUMPTIONS</a:t>
            </a:r>
            <a:endParaRPr lang="en-US" sz="200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61ED591-F1A5-48CF-655B-986D026A7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7" t="5256" r="28038"/>
          <a:stretch>
            <a:fillRect/>
          </a:stretch>
        </p:blipFill>
        <p:spPr bwMode="auto">
          <a:xfrm>
            <a:off x="8775700" y="2570718"/>
            <a:ext cx="4410106" cy="386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2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1AED-459E-9F4D-E78D-3B77867B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F675E9-7246-38A4-FD27-50CC609D36C9}"/>
              </a:ext>
            </a:extLst>
          </p:cNvPr>
          <p:cNvSpPr/>
          <p:nvPr/>
        </p:nvSpPr>
        <p:spPr>
          <a:xfrm>
            <a:off x="5665351" y="791051"/>
            <a:ext cx="32996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FOUNDATIONAL CONCEPTS</a:t>
            </a:r>
            <a:endParaRPr lang="en-US" sz="2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856053-40DC-68E6-8D5A-1BF6CB1BC60A}"/>
              </a:ext>
            </a:extLst>
          </p:cNvPr>
          <p:cNvSpPr/>
          <p:nvPr/>
        </p:nvSpPr>
        <p:spPr>
          <a:xfrm>
            <a:off x="793790" y="1313974"/>
            <a:ext cx="13042821" cy="1124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900"/>
              </a:lnSpc>
              <a:buNone/>
            </a:pPr>
            <a:r>
              <a:rPr lang="en-US" sz="55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Noise Injection</a:t>
            </a:r>
            <a:endParaRPr lang="en-US" sz="5500"/>
          </a:p>
        </p:txBody>
      </p:sp>
      <p:pic>
        <p:nvPicPr>
          <p:cNvPr id="5" name="Picture 4" descr="A building with trees in front of it&#10;&#10;AI-generated content may be incorrect.">
            <a:extLst>
              <a:ext uri="{FF2B5EF4-FFF2-40B4-BE49-F238E27FC236}">
                <a16:creationId xmlns:a16="http://schemas.microsoft.com/office/drawing/2014/main" id="{A16C0178-F2F7-03A3-65A3-83B351D3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" r="18684"/>
          <a:stretch>
            <a:fillRect/>
          </a:stretch>
        </p:blipFill>
        <p:spPr>
          <a:xfrm>
            <a:off x="10220220" y="1609201"/>
            <a:ext cx="3616390" cy="2449333"/>
          </a:xfrm>
          <a:prstGeom prst="rect">
            <a:avLst/>
          </a:prstGeom>
        </p:spPr>
      </p:pic>
      <p:pic>
        <p:nvPicPr>
          <p:cNvPr id="6" name="Picture 5" descr="A blue line drawn on a grid&#10;&#10;AI-generated content may be incorrect.">
            <a:extLst>
              <a:ext uri="{FF2B5EF4-FFF2-40B4-BE49-F238E27FC236}">
                <a16:creationId xmlns:a16="http://schemas.microsoft.com/office/drawing/2014/main" id="{4147DA5B-7998-3037-24EB-F5E6DAF1C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489" y="4600934"/>
            <a:ext cx="2339851" cy="2858246"/>
          </a:xfrm>
          <a:prstGeom prst="rect">
            <a:avLst/>
          </a:prstGeom>
        </p:spPr>
      </p:pic>
      <p:pic>
        <p:nvPicPr>
          <p:cNvPr id="8" name="Graphic 7" descr="Devil face with solid fill with solid fill">
            <a:extLst>
              <a:ext uri="{FF2B5EF4-FFF2-40B4-BE49-F238E27FC236}">
                <a16:creationId xmlns:a16="http://schemas.microsoft.com/office/drawing/2014/main" id="{468275AE-5E7D-071B-99FF-452D434F05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24" y="399574"/>
            <a:ext cx="914400" cy="91440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B46BE23-56FE-CC57-78E9-05B3A0C492D1}"/>
              </a:ext>
            </a:extLst>
          </p:cNvPr>
          <p:cNvSpPr/>
          <p:nvPr/>
        </p:nvSpPr>
        <p:spPr>
          <a:xfrm>
            <a:off x="1242954" y="3036954"/>
            <a:ext cx="7947193" cy="422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Projected Gradient Descent (PGD) optimize noise for </a:t>
            </a:r>
            <a:br>
              <a:rPr lang="en-US" sz="2400">
                <a:latin typeface="DM Sans" pitchFamily="2" charset="77"/>
              </a:rPr>
            </a:br>
            <a:r>
              <a:rPr lang="en-US" sz="2400">
                <a:latin typeface="DM Sans" pitchFamily="2" charset="77"/>
              </a:rPr>
              <a:t>maximizing the loss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Frame based noise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Without physical restrictions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  <a:cs typeface="DM Sans Medium" pitchFamily="34" charset="-120"/>
              </a:rPr>
              <a:t>Bound of noise value with max norm</a:t>
            </a:r>
            <a:endParaRPr lang="en-US" sz="240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59955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2E8E-927F-010B-7EFA-A0BA50AA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FE07F8-23C9-C43D-7D46-D0114273160E}"/>
              </a:ext>
            </a:extLst>
          </p:cNvPr>
          <p:cNvSpPr/>
          <p:nvPr/>
        </p:nvSpPr>
        <p:spPr>
          <a:xfrm>
            <a:off x="5827871" y="648057"/>
            <a:ext cx="29746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BACKGROUND</a:t>
            </a:r>
            <a:endParaRPr lang="en-US" sz="2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D2E367-E5A5-C8A2-D096-16411B662EE6}"/>
              </a:ext>
            </a:extLst>
          </p:cNvPr>
          <p:cNvSpPr/>
          <p:nvPr/>
        </p:nvSpPr>
        <p:spPr>
          <a:xfrm>
            <a:off x="1289765" y="1270397"/>
            <a:ext cx="9067046" cy="185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300"/>
              </a:lnSpc>
            </a:pPr>
            <a:r>
              <a:rPr lang="en-US" sz="5850">
                <a:solidFill>
                  <a:srgbClr val="F7F7F8"/>
                </a:solidFill>
                <a:latin typeface="DM Sans Medium"/>
                <a:ea typeface="DM Sans Medium" pitchFamily="34" charset="-122"/>
                <a:cs typeface="DM Sans Medium" pitchFamily="34" charset="-120"/>
              </a:rPr>
              <a:t>Square attack</a:t>
            </a:r>
            <a:endParaRPr lang="en-US" sz="5850">
              <a:latin typeface="DM Sans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AABE73-4B57-3E21-71DC-6D9A943FB80E}"/>
              </a:ext>
            </a:extLst>
          </p:cNvPr>
          <p:cNvGrpSpPr/>
          <p:nvPr/>
        </p:nvGrpSpPr>
        <p:grpSpPr>
          <a:xfrm>
            <a:off x="255800" y="241697"/>
            <a:ext cx="1541339" cy="1485900"/>
            <a:chOff x="10601325" y="6257925"/>
            <a:chExt cx="1541339" cy="1485900"/>
          </a:xfrm>
        </p:grpSpPr>
        <p:pic>
          <p:nvPicPr>
            <p:cNvPr id="5" name="Graphic 4" descr="Flashlight with solid fill">
              <a:extLst>
                <a:ext uri="{FF2B5EF4-FFF2-40B4-BE49-F238E27FC236}">
                  <a16:creationId xmlns:a16="http://schemas.microsoft.com/office/drawing/2014/main" id="{975750A0-3ADF-90AF-8873-3BA7382D9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01325" y="6829425"/>
              <a:ext cx="914400" cy="914400"/>
            </a:xfrm>
            <a:prstGeom prst="rect">
              <a:avLst/>
            </a:prstGeom>
          </p:spPr>
        </p:pic>
        <p:sp>
          <p:nvSpPr>
            <p:cNvPr id="7" name="Flowchart: Terminator 17">
              <a:extLst>
                <a:ext uri="{FF2B5EF4-FFF2-40B4-BE49-F238E27FC236}">
                  <a16:creationId xmlns:a16="http://schemas.microsoft.com/office/drawing/2014/main" id="{2B6ABB6B-0537-24E5-9A4C-B4B323DB7458}"/>
                </a:ext>
              </a:extLst>
            </p:cNvPr>
            <p:cNvSpPr/>
            <p:nvPr/>
          </p:nvSpPr>
          <p:spPr>
            <a:xfrm rot="1200000">
              <a:off x="11355057" y="6257925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Terminator 18">
              <a:extLst>
                <a:ext uri="{FF2B5EF4-FFF2-40B4-BE49-F238E27FC236}">
                  <a16:creationId xmlns:a16="http://schemas.microsoft.com/office/drawing/2014/main" id="{C9136004-C6A5-8136-9EDE-3E61AF9920CD}"/>
                </a:ext>
              </a:extLst>
            </p:cNvPr>
            <p:cNvSpPr/>
            <p:nvPr/>
          </p:nvSpPr>
          <p:spPr>
            <a:xfrm rot="2280000">
              <a:off x="11584879" y="6355721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Terminator 20">
              <a:extLst>
                <a:ext uri="{FF2B5EF4-FFF2-40B4-BE49-F238E27FC236}">
                  <a16:creationId xmlns:a16="http://schemas.microsoft.com/office/drawing/2014/main" id="{93D3DF44-57B6-7D02-B3A8-0EA064865565}"/>
                </a:ext>
              </a:extLst>
            </p:cNvPr>
            <p:cNvSpPr/>
            <p:nvPr/>
          </p:nvSpPr>
          <p:spPr>
            <a:xfrm rot="4020000">
              <a:off x="11769980" y="6561262"/>
              <a:ext cx="100822" cy="644546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DA63C0A7-6F35-BF3B-8AFC-A62439B5939C}"/>
              </a:ext>
            </a:extLst>
          </p:cNvPr>
          <p:cNvSpPr/>
          <p:nvPr/>
        </p:nvSpPr>
        <p:spPr>
          <a:xfrm>
            <a:off x="1242954" y="3036954"/>
            <a:ext cx="8256646" cy="422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Black-box attack – no internal knowledge needed</a:t>
            </a:r>
            <a:br>
              <a:rPr lang="en-US" sz="2400">
                <a:latin typeface="DM Sans" pitchFamily="2" charset="77"/>
              </a:rPr>
            </a:br>
            <a:endParaRPr lang="en-US" sz="2400">
              <a:latin typeface="DM Sans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Iteratively adds squares to texture – feedback based</a:t>
            </a:r>
            <a:br>
              <a:rPr lang="en-US" sz="2400">
                <a:latin typeface="DM Sans" pitchFamily="2" charset="77"/>
              </a:rPr>
            </a:br>
            <a:endParaRPr lang="en-US" sz="2400">
              <a:latin typeface="DM Sans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Localized, high-impact changes effect greatly on CNNs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>
              <a:latin typeface="DM Sans" pitchFamily="2" charset="77"/>
            </a:endParaRPr>
          </a:p>
        </p:txBody>
      </p:sp>
      <p:pic>
        <p:nvPicPr>
          <p:cNvPr id="11" name="square_attack_transitions.mp4">
            <a:hlinkClick r:id="" action="ppaction://media"/>
            <a:extLst>
              <a:ext uri="{FF2B5EF4-FFF2-40B4-BE49-F238E27FC236}">
                <a16:creationId xmlns:a16="http://schemas.microsoft.com/office/drawing/2014/main" id="{CA25B925-854F-E0BE-BB6A-2363ECB8A6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356811" y="3229334"/>
            <a:ext cx="3251200" cy="32512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2990A0-6A11-19ED-120C-3D1CFBE6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5582" y="903354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3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5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02E8E-927F-010B-7EFA-A0BA50AA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FE07F8-23C9-C43D-7D46-D0114273160E}"/>
              </a:ext>
            </a:extLst>
          </p:cNvPr>
          <p:cNvSpPr/>
          <p:nvPr/>
        </p:nvSpPr>
        <p:spPr>
          <a:xfrm>
            <a:off x="5827871" y="648057"/>
            <a:ext cx="29746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OUR APPROACH</a:t>
            </a:r>
            <a:endParaRPr lang="en-US" sz="2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D2E367-E5A5-C8A2-D096-16411B662EE6}"/>
              </a:ext>
            </a:extLst>
          </p:cNvPr>
          <p:cNvSpPr/>
          <p:nvPr/>
        </p:nvSpPr>
        <p:spPr>
          <a:xfrm>
            <a:off x="1289765" y="1270397"/>
            <a:ext cx="6874632" cy="1256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300"/>
              </a:lnSpc>
            </a:pPr>
            <a:r>
              <a:rPr lang="en-US" sz="5850">
                <a:solidFill>
                  <a:srgbClr val="F7F7F8"/>
                </a:solidFill>
                <a:latin typeface="DM Sans Medium"/>
                <a:ea typeface="DM Sans Medium" pitchFamily="34" charset="-122"/>
                <a:cs typeface="DM Sans Medium" pitchFamily="34" charset="-120"/>
              </a:rPr>
              <a:t>Light Optimization</a:t>
            </a:r>
            <a:endParaRPr lang="en-US" sz="5850">
              <a:latin typeface="DM Sans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AABE73-4B57-3E21-71DC-6D9A943FB80E}"/>
              </a:ext>
            </a:extLst>
          </p:cNvPr>
          <p:cNvGrpSpPr/>
          <p:nvPr/>
        </p:nvGrpSpPr>
        <p:grpSpPr>
          <a:xfrm>
            <a:off x="255800" y="241697"/>
            <a:ext cx="1541339" cy="1485900"/>
            <a:chOff x="10601325" y="6257925"/>
            <a:chExt cx="1541339" cy="1485900"/>
          </a:xfrm>
        </p:grpSpPr>
        <p:pic>
          <p:nvPicPr>
            <p:cNvPr id="5" name="Graphic 4" descr="Flashlight with solid fill">
              <a:extLst>
                <a:ext uri="{FF2B5EF4-FFF2-40B4-BE49-F238E27FC236}">
                  <a16:creationId xmlns:a16="http://schemas.microsoft.com/office/drawing/2014/main" id="{975750A0-3ADF-90AF-8873-3BA7382D9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01325" y="6829425"/>
              <a:ext cx="914400" cy="914400"/>
            </a:xfrm>
            <a:prstGeom prst="rect">
              <a:avLst/>
            </a:prstGeom>
          </p:spPr>
        </p:pic>
        <p:sp>
          <p:nvSpPr>
            <p:cNvPr id="7" name="Flowchart: Terminator 17">
              <a:extLst>
                <a:ext uri="{FF2B5EF4-FFF2-40B4-BE49-F238E27FC236}">
                  <a16:creationId xmlns:a16="http://schemas.microsoft.com/office/drawing/2014/main" id="{2B6ABB6B-0537-24E5-9A4C-B4B323DB7458}"/>
                </a:ext>
              </a:extLst>
            </p:cNvPr>
            <p:cNvSpPr/>
            <p:nvPr/>
          </p:nvSpPr>
          <p:spPr>
            <a:xfrm rot="1200000">
              <a:off x="11355057" y="6257925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Terminator 18">
              <a:extLst>
                <a:ext uri="{FF2B5EF4-FFF2-40B4-BE49-F238E27FC236}">
                  <a16:creationId xmlns:a16="http://schemas.microsoft.com/office/drawing/2014/main" id="{C9136004-C6A5-8136-9EDE-3E61AF9920CD}"/>
                </a:ext>
              </a:extLst>
            </p:cNvPr>
            <p:cNvSpPr/>
            <p:nvPr/>
          </p:nvSpPr>
          <p:spPr>
            <a:xfrm rot="2280000">
              <a:off x="11584879" y="6355721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Terminator 20">
              <a:extLst>
                <a:ext uri="{FF2B5EF4-FFF2-40B4-BE49-F238E27FC236}">
                  <a16:creationId xmlns:a16="http://schemas.microsoft.com/office/drawing/2014/main" id="{93D3DF44-57B6-7D02-B3A8-0EA064865565}"/>
                </a:ext>
              </a:extLst>
            </p:cNvPr>
            <p:cNvSpPr/>
            <p:nvPr/>
          </p:nvSpPr>
          <p:spPr>
            <a:xfrm rot="4020000">
              <a:off x="11769980" y="6561262"/>
              <a:ext cx="100822" cy="644546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DA63C0A7-6F35-BF3B-8AFC-A62439B5939C}"/>
              </a:ext>
            </a:extLst>
          </p:cNvPr>
          <p:cNvSpPr/>
          <p:nvPr/>
        </p:nvSpPr>
        <p:spPr>
          <a:xfrm>
            <a:off x="1242954" y="3036954"/>
            <a:ext cx="7947193" cy="4227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Universal - same texture for all tracks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Square “defense” – utilizing attack properties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Assumptions: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Ray tracing enabled – for optimizing effect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Visible to drone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Feedback based – average of all track's loss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DM Sans" pitchFamily="2" charset="77"/>
              </a:rPr>
              <a:t>Optimal for DPVO – patch-based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latin typeface="DM Sans" pitchFamily="2" charset="77"/>
            </a:endParaRPr>
          </a:p>
        </p:txBody>
      </p:sp>
      <p:pic>
        <p:nvPicPr>
          <p:cNvPr id="12" name="movie0000-0150-2">
            <a:hlinkClick r:id="" action="ppaction://media"/>
            <a:extLst>
              <a:ext uri="{FF2B5EF4-FFF2-40B4-BE49-F238E27FC236}">
                <a16:creationId xmlns:a16="http://schemas.microsoft.com/office/drawing/2014/main" id="{7F3EDC73-B1EC-FBFC-AC8E-6012219D75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802529" y="2981968"/>
            <a:ext cx="5183910" cy="2851150"/>
          </a:xfrm>
          <a:prstGeom prst="rect">
            <a:avLst/>
          </a:prstGeom>
        </p:spPr>
      </p:pic>
      <p:pic>
        <p:nvPicPr>
          <p:cNvPr id="13" name="Graphic 12" descr="Medieval Armor outline">
            <a:extLst>
              <a:ext uri="{FF2B5EF4-FFF2-40B4-BE49-F238E27FC236}">
                <a16:creationId xmlns:a16="http://schemas.microsoft.com/office/drawing/2014/main" id="{CB592F4F-0C83-1B94-CC04-96579FD017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00" y="896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8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3956-936F-19A6-D00F-8B85AEB4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77BCDA-41E3-5C54-A312-4C18D6CA8038}"/>
              </a:ext>
            </a:extLst>
          </p:cNvPr>
          <p:cNvSpPr/>
          <p:nvPr/>
        </p:nvSpPr>
        <p:spPr>
          <a:xfrm>
            <a:off x="5827871" y="648057"/>
            <a:ext cx="29746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0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DETAILS</a:t>
            </a:r>
            <a:endParaRPr lang="en-US" sz="2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7D3DC6-48FF-E51A-A4E3-F0D9AC63BF9F}"/>
              </a:ext>
            </a:extLst>
          </p:cNvPr>
          <p:cNvSpPr/>
          <p:nvPr/>
        </p:nvSpPr>
        <p:spPr>
          <a:xfrm>
            <a:off x="793790" y="1200031"/>
            <a:ext cx="13042821" cy="185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7700"/>
              </a:lnSpc>
            </a:pPr>
            <a:r>
              <a:rPr lang="en-US" sz="6000">
                <a:solidFill>
                  <a:srgbClr val="F7F7F8"/>
                </a:solidFill>
                <a:latin typeface="DM Sans Medium" pitchFamily="34" charset="0"/>
                <a:cs typeface="DM Sans Medium" pitchFamily="34" charset="-120"/>
              </a:rPr>
              <a:t>Experimental Setup</a:t>
            </a:r>
            <a:endParaRPr lang="en-US" sz="6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AD31F9-EF0B-2F5C-1877-1B3CE2D7D2A2}"/>
              </a:ext>
            </a:extLst>
          </p:cNvPr>
          <p:cNvSpPr/>
          <p:nvPr/>
        </p:nvSpPr>
        <p:spPr>
          <a:xfrm>
            <a:off x="240602" y="4225485"/>
            <a:ext cx="3316171" cy="16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150"/>
              </a:lnSpc>
            </a:pPr>
            <a:r>
              <a:rPr lang="en-US" sz="2800">
                <a:solidFill>
                  <a:srgbClr val="D6D9D7"/>
                </a:solidFill>
                <a:latin typeface="DM Sans Medium"/>
              </a:rPr>
              <a:t>Multiple Track</a:t>
            </a:r>
            <a:endParaRPr lang="en-US"/>
          </a:p>
          <a:p>
            <a:pPr algn="ctr">
              <a:lnSpc>
                <a:spcPts val="3150"/>
              </a:lnSpc>
            </a:pPr>
            <a:r>
              <a:rPr lang="en-US" sz="2800">
                <a:solidFill>
                  <a:srgbClr val="D6D9D7"/>
                </a:solidFill>
                <a:latin typeface="DM Sans Medium"/>
                <a:ea typeface="DM Sans Medium" pitchFamily="34" charset="-122"/>
                <a:cs typeface="DM Sans Medium" pitchFamily="34" charset="-120"/>
              </a:rPr>
              <a:t> Generation</a:t>
            </a:r>
            <a:endParaRPr lang="en-US" sz="2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54F4C1-9805-20B3-A7B9-C7DC2EEB460F}"/>
              </a:ext>
            </a:extLst>
          </p:cNvPr>
          <p:cNvGrpSpPr/>
          <p:nvPr/>
        </p:nvGrpSpPr>
        <p:grpSpPr>
          <a:xfrm>
            <a:off x="5686000" y="4009636"/>
            <a:ext cx="2222677" cy="1471847"/>
            <a:chOff x="5213211" y="3058597"/>
            <a:chExt cx="5510353" cy="489596"/>
          </a:xfrm>
        </p:grpSpPr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F3F46E05-30B1-055C-875F-AF1B692A649B}"/>
                </a:ext>
              </a:extLst>
            </p:cNvPr>
            <p:cNvSpPr/>
            <p:nvPr/>
          </p:nvSpPr>
          <p:spPr>
            <a:xfrm>
              <a:off x="5213211" y="3058597"/>
              <a:ext cx="361688" cy="2876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endParaRPr lang="en-US" sz="165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9D30872-07DA-C073-3589-CFDA85E5EDC8}"/>
                </a:ext>
              </a:extLst>
            </p:cNvPr>
            <p:cNvSpPr/>
            <p:nvPr/>
          </p:nvSpPr>
          <p:spPr>
            <a:xfrm>
              <a:off x="6610312" y="3144214"/>
              <a:ext cx="4113252" cy="4039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150"/>
                </a:lnSpc>
                <a:buNone/>
              </a:pPr>
              <a:r>
                <a:rPr lang="en-US" sz="2500">
                  <a:solidFill>
                    <a:srgbClr val="D6D9D7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PGD-Based</a:t>
              </a:r>
            </a:p>
            <a:p>
              <a:pPr marL="0" indent="0" algn="ctr">
                <a:lnSpc>
                  <a:spcPts val="3150"/>
                </a:lnSpc>
                <a:buNone/>
              </a:pPr>
              <a:r>
                <a:rPr lang="en-US" sz="2500">
                  <a:solidFill>
                    <a:srgbClr val="D6D9D7"/>
                  </a:solidFill>
                  <a:latin typeface="DM Sans Medium" pitchFamily="34" charset="0"/>
                  <a:ea typeface="DM Sans Medium" pitchFamily="34" charset="-122"/>
                  <a:cs typeface="DM Sans Medium" pitchFamily="34" charset="-120"/>
                </a:rPr>
                <a:t> Noise Injection</a:t>
              </a:r>
              <a:endParaRPr lang="en-US" sz="2500"/>
            </a:p>
          </p:txBody>
        </p:sp>
      </p:grpSp>
      <p:sp>
        <p:nvSpPr>
          <p:cNvPr id="15" name="Text 13">
            <a:extLst>
              <a:ext uri="{FF2B5EF4-FFF2-40B4-BE49-F238E27FC236}">
                <a16:creationId xmlns:a16="http://schemas.microsoft.com/office/drawing/2014/main" id="{6393733F-AF52-ABDF-9F8F-C97183BDBA3A}"/>
              </a:ext>
            </a:extLst>
          </p:cNvPr>
          <p:cNvSpPr/>
          <p:nvPr/>
        </p:nvSpPr>
        <p:spPr>
          <a:xfrm>
            <a:off x="10601444" y="4275797"/>
            <a:ext cx="2898157" cy="33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50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Scene Light</a:t>
            </a:r>
          </a:p>
          <a:p>
            <a:pPr marL="0" indent="0" algn="ctr">
              <a:lnSpc>
                <a:spcPts val="3150"/>
              </a:lnSpc>
              <a:buNone/>
            </a:pPr>
            <a:r>
              <a:rPr lang="en-US" sz="250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Optimization</a:t>
            </a:r>
            <a:endParaRPr lang="en-US" sz="2500"/>
          </a:p>
        </p:txBody>
      </p:sp>
      <p:sp>
        <p:nvSpPr>
          <p:cNvPr id="22" name="Notched Right Arrow 21">
            <a:extLst>
              <a:ext uri="{FF2B5EF4-FFF2-40B4-BE49-F238E27FC236}">
                <a16:creationId xmlns:a16="http://schemas.microsoft.com/office/drawing/2014/main" id="{0377995F-96BF-423C-8D80-BFCB33242AB2}"/>
              </a:ext>
            </a:extLst>
          </p:cNvPr>
          <p:cNvSpPr/>
          <p:nvPr/>
        </p:nvSpPr>
        <p:spPr>
          <a:xfrm>
            <a:off x="4090270" y="4470174"/>
            <a:ext cx="1058779" cy="530364"/>
          </a:xfrm>
          <a:prstGeom prst="notched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Notched Right Arrow 22">
            <a:extLst>
              <a:ext uri="{FF2B5EF4-FFF2-40B4-BE49-F238E27FC236}">
                <a16:creationId xmlns:a16="http://schemas.microsoft.com/office/drawing/2014/main" id="{24C50181-EFFE-A850-11FA-A494111EA6E9}"/>
              </a:ext>
            </a:extLst>
          </p:cNvPr>
          <p:cNvSpPr/>
          <p:nvPr/>
        </p:nvSpPr>
        <p:spPr>
          <a:xfrm>
            <a:off x="8959248" y="4440834"/>
            <a:ext cx="1058779" cy="589045"/>
          </a:xfrm>
          <a:prstGeom prst="notched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4" name="Graphic 3" descr="Route (Two Pins With A Path) with solid fill">
            <a:extLst>
              <a:ext uri="{FF2B5EF4-FFF2-40B4-BE49-F238E27FC236}">
                <a16:creationId xmlns:a16="http://schemas.microsoft.com/office/drawing/2014/main" id="{E74FCED7-A559-2F68-92A2-D5FC34577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622" y="3203957"/>
            <a:ext cx="914400" cy="914400"/>
          </a:xfrm>
          <a:prstGeom prst="rect">
            <a:avLst/>
          </a:prstGeom>
        </p:spPr>
      </p:pic>
      <p:pic>
        <p:nvPicPr>
          <p:cNvPr id="5" name="Graphic 4" descr="Devil face with solid fill with solid fill">
            <a:extLst>
              <a:ext uri="{FF2B5EF4-FFF2-40B4-BE49-F238E27FC236}">
                <a16:creationId xmlns:a16="http://schemas.microsoft.com/office/drawing/2014/main" id="{E6808946-5564-97A5-E293-C1DF5882D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4653" y="3360627"/>
            <a:ext cx="914400" cy="914400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0BBB9BF4-EBD8-8AFF-7FC3-D16C63569EB3}"/>
              </a:ext>
            </a:extLst>
          </p:cNvPr>
          <p:cNvSpPr/>
          <p:nvPr/>
        </p:nvSpPr>
        <p:spPr>
          <a:xfrm>
            <a:off x="240601" y="5223260"/>
            <a:ext cx="3316171" cy="160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endParaRPr lang="en-US">
              <a:solidFill>
                <a:srgbClr val="D6D9D7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D2B6088E-1EB9-1853-BE6C-1BCC401E80EA}"/>
              </a:ext>
            </a:extLst>
          </p:cNvPr>
          <p:cNvSpPr/>
          <p:nvPr/>
        </p:nvSpPr>
        <p:spPr>
          <a:xfrm>
            <a:off x="561332" y="5212783"/>
            <a:ext cx="2674708" cy="1178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different tracks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Synthesized in Blender</a:t>
            </a:r>
          </a:p>
          <a:p>
            <a:pPr marL="285750" indent="-285750" algn="ctr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AC30BE77-576F-DDD1-1A26-0E9A676044B9}"/>
              </a:ext>
            </a:extLst>
          </p:cNvPr>
          <p:cNvSpPr/>
          <p:nvPr/>
        </p:nvSpPr>
        <p:spPr>
          <a:xfrm>
            <a:off x="5739619" y="5227043"/>
            <a:ext cx="2764467" cy="1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endParaRPr lang="en-US" sz="1400"/>
          </a:p>
        </p:txBody>
      </p:sp>
      <p:pic>
        <p:nvPicPr>
          <p:cNvPr id="8" name="Graphic 7" descr="Route (Two Pins With A Path) with solid fill">
            <a:extLst>
              <a:ext uri="{FF2B5EF4-FFF2-40B4-BE49-F238E27FC236}">
                <a16:creationId xmlns:a16="http://schemas.microsoft.com/office/drawing/2014/main" id="{E6C93975-0345-8C9E-0AFF-BF08392E6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5597" y="3213482"/>
            <a:ext cx="914400" cy="914400"/>
          </a:xfrm>
          <a:prstGeom prst="rect">
            <a:avLst/>
          </a:prstGeom>
        </p:spPr>
      </p:pic>
      <p:pic>
        <p:nvPicPr>
          <p:cNvPr id="10" name="Graphic 9" descr="Route (Two Pins With A Path) with solid fill">
            <a:extLst>
              <a:ext uri="{FF2B5EF4-FFF2-40B4-BE49-F238E27FC236}">
                <a16:creationId xmlns:a16="http://schemas.microsoft.com/office/drawing/2014/main" id="{C4B8F99F-5429-C461-D7E9-24F585085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897" y="3213482"/>
            <a:ext cx="914400" cy="9144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7DBEAA42-98DD-6A70-252A-4E400C50B7B8}"/>
              </a:ext>
            </a:extLst>
          </p:cNvPr>
          <p:cNvGrpSpPr/>
          <p:nvPr/>
        </p:nvGrpSpPr>
        <p:grpSpPr>
          <a:xfrm>
            <a:off x="10361723" y="3226224"/>
            <a:ext cx="1541339" cy="1485900"/>
            <a:chOff x="10601325" y="6257925"/>
            <a:chExt cx="1541339" cy="1485900"/>
          </a:xfrm>
        </p:grpSpPr>
        <p:pic>
          <p:nvPicPr>
            <p:cNvPr id="6" name="Graphic 5" descr="Flashlight with solid fill">
              <a:extLst>
                <a:ext uri="{FF2B5EF4-FFF2-40B4-BE49-F238E27FC236}">
                  <a16:creationId xmlns:a16="http://schemas.microsoft.com/office/drawing/2014/main" id="{BB0F6978-8464-32D6-002A-082B8A3FB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01325" y="6829425"/>
              <a:ext cx="914400" cy="914400"/>
            </a:xfrm>
            <a:prstGeom prst="rect">
              <a:avLst/>
            </a:prstGeom>
          </p:spPr>
        </p:pic>
        <p:sp>
          <p:nvSpPr>
            <p:cNvPr id="18" name="Flowchart: Terminator 17">
              <a:extLst>
                <a:ext uri="{FF2B5EF4-FFF2-40B4-BE49-F238E27FC236}">
                  <a16:creationId xmlns:a16="http://schemas.microsoft.com/office/drawing/2014/main" id="{E61EED74-EC06-19CD-6FB0-B3ECBBEA2EF7}"/>
                </a:ext>
              </a:extLst>
            </p:cNvPr>
            <p:cNvSpPr/>
            <p:nvPr/>
          </p:nvSpPr>
          <p:spPr>
            <a:xfrm rot="1200000">
              <a:off x="11355057" y="6257925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Terminator 18">
              <a:extLst>
                <a:ext uri="{FF2B5EF4-FFF2-40B4-BE49-F238E27FC236}">
                  <a16:creationId xmlns:a16="http://schemas.microsoft.com/office/drawing/2014/main" id="{A12F975F-DED3-DD3B-212D-149608192BC8}"/>
                </a:ext>
              </a:extLst>
            </p:cNvPr>
            <p:cNvSpPr/>
            <p:nvPr/>
          </p:nvSpPr>
          <p:spPr>
            <a:xfrm rot="2280000">
              <a:off x="11584879" y="6355721"/>
              <a:ext cx="100822" cy="610318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Terminator 20">
              <a:extLst>
                <a:ext uri="{FF2B5EF4-FFF2-40B4-BE49-F238E27FC236}">
                  <a16:creationId xmlns:a16="http://schemas.microsoft.com/office/drawing/2014/main" id="{B35FC909-8850-86B3-57A4-C70360B53080}"/>
                </a:ext>
              </a:extLst>
            </p:cNvPr>
            <p:cNvSpPr/>
            <p:nvPr/>
          </p:nvSpPr>
          <p:spPr>
            <a:xfrm rot="4020000">
              <a:off x="11769980" y="6561262"/>
              <a:ext cx="100822" cy="644546"/>
            </a:xfrm>
            <a:prstGeom prst="flowChartTermina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Graphic 29" descr="Medieval Armor outline">
            <a:extLst>
              <a:ext uri="{FF2B5EF4-FFF2-40B4-BE49-F238E27FC236}">
                <a16:creationId xmlns:a16="http://schemas.microsoft.com/office/drawing/2014/main" id="{72F94AFD-2675-C803-DF3F-1BB50A21C4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39344" y="3694176"/>
            <a:ext cx="914400" cy="91440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AFF2433E-D4FA-7620-3E92-B1E8AB99415D}"/>
              </a:ext>
            </a:extLst>
          </p:cNvPr>
          <p:cNvSpPr/>
          <p:nvPr/>
        </p:nvSpPr>
        <p:spPr>
          <a:xfrm>
            <a:off x="6066810" y="5157100"/>
            <a:ext cx="2674708" cy="16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function – 6D error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%5 noise bound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per frame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per track</a:t>
            </a:r>
          </a:p>
          <a:p>
            <a:pPr>
              <a:lnSpc>
                <a:spcPts val="2700"/>
              </a:lnSpc>
            </a:pPr>
            <a:endParaRPr lang="en-US" sz="160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 algn="ctr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BDBC78E-714F-91E3-4866-30D470D29963}"/>
              </a:ext>
            </a:extLst>
          </p:cNvPr>
          <p:cNvSpPr/>
          <p:nvPr/>
        </p:nvSpPr>
        <p:spPr>
          <a:xfrm>
            <a:off x="11014124" y="5223260"/>
            <a:ext cx="2674708" cy="16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texture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epochs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Universal</a:t>
            </a:r>
          </a:p>
          <a:p>
            <a:pPr>
              <a:lnSpc>
                <a:spcPts val="2700"/>
              </a:lnSpc>
            </a:pPr>
            <a:endParaRPr lang="en-US" sz="1600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85750" indent="-285750" algn="ctr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16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502B-4B3C-473D-03B9-0A627FE4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uble Wave 10">
            <a:extLst>
              <a:ext uri="{FF2B5EF4-FFF2-40B4-BE49-F238E27FC236}">
                <a16:creationId xmlns:a16="http://schemas.microsoft.com/office/drawing/2014/main" id="{301DFDCA-5C97-6A4E-3BBE-E2C02ABF94ED}"/>
              </a:ext>
            </a:extLst>
          </p:cNvPr>
          <p:cNvSpPr/>
          <p:nvPr/>
        </p:nvSpPr>
        <p:spPr>
          <a:xfrm rot="16200000">
            <a:off x="7539436" y="2468227"/>
            <a:ext cx="8228497" cy="3307565"/>
          </a:xfrm>
          <a:prstGeom prst="doubleWav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uble Wave 8">
            <a:extLst>
              <a:ext uri="{FF2B5EF4-FFF2-40B4-BE49-F238E27FC236}">
                <a16:creationId xmlns:a16="http://schemas.microsoft.com/office/drawing/2014/main" id="{D2D4AF53-62D9-3B9C-8D87-D50ED1EF9F71}"/>
              </a:ext>
            </a:extLst>
          </p:cNvPr>
          <p:cNvSpPr/>
          <p:nvPr/>
        </p:nvSpPr>
        <p:spPr>
          <a:xfrm rot="16200000">
            <a:off x="-1129076" y="2459083"/>
            <a:ext cx="8228497" cy="3307565"/>
          </a:xfrm>
          <a:prstGeom prst="doubleWav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uble Wave 4">
            <a:extLst>
              <a:ext uri="{FF2B5EF4-FFF2-40B4-BE49-F238E27FC236}">
                <a16:creationId xmlns:a16="http://schemas.microsoft.com/office/drawing/2014/main" id="{A559D8CE-7AF5-70C7-645D-B8B528ACAE49}"/>
              </a:ext>
            </a:extLst>
          </p:cNvPr>
          <p:cNvSpPr/>
          <p:nvPr/>
        </p:nvSpPr>
        <p:spPr>
          <a:xfrm rot="16200000">
            <a:off x="3205180" y="2459083"/>
            <a:ext cx="8228497" cy="3307565"/>
          </a:xfrm>
          <a:prstGeom prst="doubleWav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2916E7-8BFB-BF2E-D24D-EF8E35C56C81}"/>
              </a:ext>
            </a:extLst>
          </p:cNvPr>
          <p:cNvGrpSpPr/>
          <p:nvPr/>
        </p:nvGrpSpPr>
        <p:grpSpPr>
          <a:xfrm>
            <a:off x="2268213" y="734000"/>
            <a:ext cx="1423018" cy="7162000"/>
            <a:chOff x="-121638" y="-276909"/>
            <a:chExt cx="2026122" cy="8651483"/>
          </a:xfrm>
        </p:grpSpPr>
        <p:pic>
          <p:nvPicPr>
            <p:cNvPr id="7" name="Picture 6" descr="A blue line drawn on a white grid&#10;&#10;AI-generated content may be incorrect.">
              <a:extLst>
                <a:ext uri="{FF2B5EF4-FFF2-40B4-BE49-F238E27FC236}">
                  <a16:creationId xmlns:a16="http://schemas.microsoft.com/office/drawing/2014/main" id="{C93A670D-993A-53B8-D568-1261803E3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21638" y="-276909"/>
              <a:ext cx="2026122" cy="2734056"/>
            </a:xfrm>
            <a:prstGeom prst="rect">
              <a:avLst/>
            </a:prstGeom>
          </p:spPr>
        </p:pic>
        <p:pic>
          <p:nvPicPr>
            <p:cNvPr id="8" name="Picture 7" descr="A graph with a blue line drawn on it&#10;&#10;AI-generated content may be incorrect.">
              <a:extLst>
                <a:ext uri="{FF2B5EF4-FFF2-40B4-BE49-F238E27FC236}">
                  <a16:creationId xmlns:a16="http://schemas.microsoft.com/office/drawing/2014/main" id="{D56FAA0E-2BE0-7DEF-33BC-E081F2016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17892" y="5640518"/>
              <a:ext cx="2022376" cy="2734056"/>
            </a:xfrm>
            <a:prstGeom prst="rect">
              <a:avLst/>
            </a:prstGeom>
          </p:spPr>
        </p:pic>
        <p:pic>
          <p:nvPicPr>
            <p:cNvPr id="10" name="Picture 9" descr="A graph of a line drawn on a grid&#10;&#10;AI-generated content may be incorrect.">
              <a:extLst>
                <a:ext uri="{FF2B5EF4-FFF2-40B4-BE49-F238E27FC236}">
                  <a16:creationId xmlns:a16="http://schemas.microsoft.com/office/drawing/2014/main" id="{2873F2D5-5675-269C-DD15-3A5F8B9C0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21638" y="2681805"/>
              <a:ext cx="2026122" cy="273405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EB7C95F-5A04-EC81-A1D4-4D9F67D775F3}"/>
              </a:ext>
            </a:extLst>
          </p:cNvPr>
          <p:cNvGrpSpPr/>
          <p:nvPr/>
        </p:nvGrpSpPr>
        <p:grpSpPr>
          <a:xfrm>
            <a:off x="6374297" y="691327"/>
            <a:ext cx="1875446" cy="7184860"/>
            <a:chOff x="5539085" y="-289339"/>
            <a:chExt cx="2240786" cy="8621045"/>
          </a:xfrm>
        </p:grpSpPr>
        <p:pic>
          <p:nvPicPr>
            <p:cNvPr id="12" name="Picture 11" descr="A screen shot of a map&#10;&#10;AI-generated content may be incorrect.">
              <a:extLst>
                <a:ext uri="{FF2B5EF4-FFF2-40B4-BE49-F238E27FC236}">
                  <a16:creationId xmlns:a16="http://schemas.microsoft.com/office/drawing/2014/main" id="{5C00FD9A-07CD-3FD2-D20F-DEABCF2FE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39085" y="-289339"/>
              <a:ext cx="2240786" cy="2734056"/>
            </a:xfrm>
            <a:prstGeom prst="rect">
              <a:avLst/>
            </a:prstGeom>
          </p:spPr>
        </p:pic>
        <p:pic>
          <p:nvPicPr>
            <p:cNvPr id="13" name="Picture 12" descr="A graph showing a line drawn on a grid&#10;&#10;AI-generated content may be incorrect.">
              <a:extLst>
                <a:ext uri="{FF2B5EF4-FFF2-40B4-BE49-F238E27FC236}">
                  <a16:creationId xmlns:a16="http://schemas.microsoft.com/office/drawing/2014/main" id="{9D27A337-396F-87D0-2BE0-1EC03E704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39085" y="5606794"/>
              <a:ext cx="2240786" cy="2724912"/>
            </a:xfrm>
            <a:prstGeom prst="rect">
              <a:avLst/>
            </a:prstGeom>
          </p:spPr>
        </p:pic>
        <p:pic>
          <p:nvPicPr>
            <p:cNvPr id="15" name="Picture 14" descr="A blue line drawn on a white grid&#10;&#10;AI-generated content may be incorrect.">
              <a:extLst>
                <a:ext uri="{FF2B5EF4-FFF2-40B4-BE49-F238E27FC236}">
                  <a16:creationId xmlns:a16="http://schemas.microsoft.com/office/drawing/2014/main" id="{028BCD65-2CF0-4281-4097-09584708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39085" y="2654373"/>
              <a:ext cx="2240786" cy="273405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CFC588C-BC91-7298-B4E5-11A10A195E21}"/>
              </a:ext>
            </a:extLst>
          </p:cNvPr>
          <p:cNvGrpSpPr/>
          <p:nvPr/>
        </p:nvGrpSpPr>
        <p:grpSpPr>
          <a:xfrm>
            <a:off x="10644546" y="697424"/>
            <a:ext cx="2002737" cy="7162000"/>
            <a:chOff x="10585342" y="126340"/>
            <a:chExt cx="2064731" cy="7748308"/>
          </a:xfrm>
        </p:grpSpPr>
        <p:pic>
          <p:nvPicPr>
            <p:cNvPr id="17" name="Picture 16" descr="A graph with a blue line&#10;&#10;AI-generated content may be incorrect.">
              <a:extLst>
                <a:ext uri="{FF2B5EF4-FFF2-40B4-BE49-F238E27FC236}">
                  <a16:creationId xmlns:a16="http://schemas.microsoft.com/office/drawing/2014/main" id="{DBF58CCA-FB65-B949-3E7E-7DE671D74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85342" y="126340"/>
              <a:ext cx="2061275" cy="2448633"/>
            </a:xfrm>
            <a:prstGeom prst="rect">
              <a:avLst/>
            </a:prstGeom>
          </p:spPr>
        </p:pic>
        <p:pic>
          <p:nvPicPr>
            <p:cNvPr id="18" name="Picture 17" descr="A graph with a blue line drawn on it&#10;&#10;AI-generated content may be incorrect.">
              <a:extLst>
                <a:ext uri="{FF2B5EF4-FFF2-40B4-BE49-F238E27FC236}">
                  <a16:creationId xmlns:a16="http://schemas.microsoft.com/office/drawing/2014/main" id="{77D63611-97B3-3067-85FF-494A5FD9C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585342" y="5426014"/>
              <a:ext cx="2061275" cy="2448634"/>
            </a:xfrm>
            <a:prstGeom prst="rect">
              <a:avLst/>
            </a:prstGeom>
          </p:spPr>
        </p:pic>
        <p:pic>
          <p:nvPicPr>
            <p:cNvPr id="20" name="Picture 19" descr="A graph with a line drawn on it&#10;&#10;AI-generated content may be incorrect.">
              <a:extLst>
                <a:ext uri="{FF2B5EF4-FFF2-40B4-BE49-F238E27FC236}">
                  <a16:creationId xmlns:a16="http://schemas.microsoft.com/office/drawing/2014/main" id="{3F5BE31E-D19C-BC7F-9DF1-7E8BC7275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585342" y="2884926"/>
              <a:ext cx="2064731" cy="227858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181A401-1457-EA03-01F9-571B64E5410D}"/>
              </a:ext>
            </a:extLst>
          </p:cNvPr>
          <p:cNvSpPr txBox="1"/>
          <p:nvPr/>
        </p:nvSpPr>
        <p:spPr>
          <a:xfrm rot="17400000">
            <a:off x="-1917915" y="626019"/>
            <a:ext cx="6839712" cy="101566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/>
              <a:t>CLEAN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35412-744D-0D0D-1DBF-300D511CE944}"/>
              </a:ext>
            </a:extLst>
          </p:cNvPr>
          <p:cNvSpPr txBox="1"/>
          <p:nvPr/>
        </p:nvSpPr>
        <p:spPr>
          <a:xfrm rot="17400000">
            <a:off x="2535214" y="187106"/>
            <a:ext cx="683971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/>
              <a:t>PGD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A53D9-C80B-A6FC-4FC6-E0ECC92960EC}"/>
              </a:ext>
            </a:extLst>
          </p:cNvPr>
          <p:cNvSpPr txBox="1"/>
          <p:nvPr/>
        </p:nvSpPr>
        <p:spPr>
          <a:xfrm rot="17400000">
            <a:off x="6805462" y="223682"/>
            <a:ext cx="6839712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00" b="1"/>
              <a:t>DEFEND</a:t>
            </a:r>
          </a:p>
        </p:txBody>
      </p:sp>
    </p:spTree>
    <p:extLst>
      <p:ext uri="{BB962C8B-B14F-4D97-AF65-F5344CB8AC3E}">
        <p14:creationId xmlns:p14="http://schemas.microsoft.com/office/powerpoint/2010/main" val="72971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AD84-1CCA-5053-A01A-C4A703969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2FCE20-F5B0-8A11-D5C2-74A8D7C9724D}"/>
              </a:ext>
            </a:extLst>
          </p:cNvPr>
          <p:cNvSpPr/>
          <p:nvPr/>
        </p:nvSpPr>
        <p:spPr>
          <a:xfrm>
            <a:off x="5897523" y="8984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SUMMARY</a:t>
            </a:r>
            <a:endParaRPr lang="en-US" sz="2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24A955-8A29-EF67-9179-54B2936DFE9D}"/>
              </a:ext>
            </a:extLst>
          </p:cNvPr>
          <p:cNvSpPr/>
          <p:nvPr/>
        </p:nvSpPr>
        <p:spPr>
          <a:xfrm>
            <a:off x="793790" y="1479590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Conclusions</a:t>
            </a:r>
            <a:endParaRPr lang="en-US" sz="61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7DD55F-FE48-8B13-84D8-6578E352960F}"/>
              </a:ext>
            </a:extLst>
          </p:cNvPr>
          <p:cNvSpPr/>
          <p:nvPr/>
        </p:nvSpPr>
        <p:spPr>
          <a:xfrm>
            <a:off x="793729" y="3016092"/>
            <a:ext cx="13042821" cy="3554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optimized spotlight – improve robustness</a:t>
            </a:r>
            <a:br>
              <a:rPr lang="en-US" sz="240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en-US" sz="240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  <a:t>Square attack - relevant for defense </a:t>
            </a:r>
            <a:br>
              <a:rPr lang="en-US" sz="240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</a:br>
            <a:endParaRPr lang="en-US" sz="2400">
              <a:solidFill>
                <a:srgbClr val="D6D9D7"/>
              </a:solidFill>
              <a:latin typeface="Inter" pitchFamily="34" charset="0"/>
              <a:ea typeface="Inter" pitchFamily="34" charset="-122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  <a:t>Fixed texture - effective for multiple tracks</a:t>
            </a:r>
            <a:endParaRPr lang="en-US" sz="240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68FBDF5-A89A-E250-A628-589C9409D5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2120900"/>
            <a:ext cx="2146300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9" name="Picture 8" descr="Cartoon of devil characters looking at a shield&#10;&#10;AI-generated content may be incorrect.">
            <a:extLst>
              <a:ext uri="{FF2B5EF4-FFF2-40B4-BE49-F238E27FC236}">
                <a16:creationId xmlns:a16="http://schemas.microsoft.com/office/drawing/2014/main" id="{C2A0AE70-7C64-4CBD-6723-AF13D929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175044" y="3035043"/>
            <a:ext cx="3814687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70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024" y="801053"/>
            <a:ext cx="2820233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ONGOING RESEARCH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787956" y="1378029"/>
            <a:ext cx="13054489" cy="120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600"/>
              </a:lnSpc>
              <a:buNone/>
            </a:pPr>
            <a:r>
              <a:rPr lang="en-US" sz="61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Work</a:t>
            </a:r>
            <a:endParaRPr lang="en-US" sz="6100"/>
          </a:p>
        </p:txBody>
      </p:sp>
      <p:sp>
        <p:nvSpPr>
          <p:cNvPr id="5" name="Text 2"/>
          <p:cNvSpPr/>
          <p:nvPr/>
        </p:nvSpPr>
        <p:spPr>
          <a:xfrm>
            <a:off x="948641" y="4829730"/>
            <a:ext cx="2790801" cy="844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Noise method</a:t>
            </a:r>
            <a:endParaRPr lang="en-US" sz="2650"/>
          </a:p>
        </p:txBody>
      </p:sp>
      <p:sp>
        <p:nvSpPr>
          <p:cNvPr id="6" name="Text 3"/>
          <p:cNvSpPr/>
          <p:nvPr/>
        </p:nvSpPr>
        <p:spPr>
          <a:xfrm>
            <a:off x="1248320" y="5283478"/>
            <a:ext cx="2889458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universal patch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  <a:t>Square attack</a:t>
            </a:r>
            <a:endParaRPr lang="en-US" sz="1750"/>
          </a:p>
        </p:txBody>
      </p:sp>
      <p:sp>
        <p:nvSpPr>
          <p:cNvPr id="8" name="Text 4"/>
          <p:cNvSpPr/>
          <p:nvPr/>
        </p:nvSpPr>
        <p:spPr>
          <a:xfrm>
            <a:off x="5173979" y="4829731"/>
            <a:ext cx="3901202" cy="844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Exploring the limits</a:t>
            </a:r>
            <a:endParaRPr lang="en-US" sz="2650"/>
          </a:p>
        </p:txBody>
      </p:sp>
      <p:sp>
        <p:nvSpPr>
          <p:cNvPr id="9" name="Text 5"/>
          <p:cNvSpPr/>
          <p:nvPr/>
        </p:nvSpPr>
        <p:spPr>
          <a:xfrm>
            <a:off x="5631179" y="5340548"/>
            <a:ext cx="3901202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  <a:t>Exploring what the </a:t>
            </a:r>
            <a:b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</a:br>
            <a: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</a:rPr>
              <a:t>effectiveness limits</a:t>
            </a:r>
            <a:endParaRPr lang="en-US" sz="1750"/>
          </a:p>
        </p:txBody>
      </p:sp>
      <p:sp>
        <p:nvSpPr>
          <p:cNvPr id="11" name="Text 6"/>
          <p:cNvSpPr/>
          <p:nvPr/>
        </p:nvSpPr>
        <p:spPr>
          <a:xfrm>
            <a:off x="10111382" y="4786493"/>
            <a:ext cx="3377327" cy="422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Multi-Sensor Fusion</a:t>
            </a:r>
            <a:endParaRPr lang="en-US" sz="2650"/>
          </a:p>
        </p:txBody>
      </p:sp>
      <p:sp>
        <p:nvSpPr>
          <p:cNvPr id="12" name="Text 7"/>
          <p:cNvSpPr/>
          <p:nvPr/>
        </p:nvSpPr>
        <p:spPr>
          <a:xfrm>
            <a:off x="10187462" y="5312153"/>
            <a:ext cx="3901202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75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different sensors for improving robustness</a:t>
            </a:r>
            <a:endParaRPr lang="en-US" sz="1750"/>
          </a:p>
        </p:txBody>
      </p:sp>
      <p:pic>
        <p:nvPicPr>
          <p:cNvPr id="14" name="Graphic 13" descr="Bow And Arrow outline">
            <a:extLst>
              <a:ext uri="{FF2B5EF4-FFF2-40B4-BE49-F238E27FC236}">
                <a16:creationId xmlns:a16="http://schemas.microsoft.com/office/drawing/2014/main" id="{DCD38031-1975-7995-60CC-A3BEB0D36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6842" y="3862818"/>
            <a:ext cx="914400" cy="914400"/>
          </a:xfrm>
          <a:prstGeom prst="rect">
            <a:avLst/>
          </a:prstGeom>
        </p:spPr>
      </p:pic>
      <p:pic>
        <p:nvPicPr>
          <p:cNvPr id="16" name="Graphic 15" descr="Infinity with solid fill">
            <a:extLst>
              <a:ext uri="{FF2B5EF4-FFF2-40B4-BE49-F238E27FC236}">
                <a16:creationId xmlns:a16="http://schemas.microsoft.com/office/drawing/2014/main" id="{92582026-25EC-ED0F-AE7C-3F745E2BCA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380" y="3915331"/>
            <a:ext cx="914400" cy="914400"/>
          </a:xfrm>
          <a:prstGeom prst="rect">
            <a:avLst/>
          </a:prstGeom>
        </p:spPr>
      </p:pic>
      <p:pic>
        <p:nvPicPr>
          <p:cNvPr id="18" name="Graphic 17" descr="Satellite dish with solid fill">
            <a:extLst>
              <a:ext uri="{FF2B5EF4-FFF2-40B4-BE49-F238E27FC236}">
                <a16:creationId xmlns:a16="http://schemas.microsoft.com/office/drawing/2014/main" id="{0770A97A-B21C-5763-354A-4FD917B5FD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4246" y="387209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0005-668A-65BC-E8D8-464C94D4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5A45E34-173D-E0DD-E4CD-C87F52F58B8D}"/>
              </a:ext>
            </a:extLst>
          </p:cNvPr>
          <p:cNvSpPr/>
          <p:nvPr/>
        </p:nvSpPr>
        <p:spPr>
          <a:xfrm>
            <a:off x="787955" y="3514764"/>
            <a:ext cx="13054489" cy="120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600"/>
              </a:lnSpc>
              <a:buNone/>
            </a:pPr>
            <a:r>
              <a:rPr lang="en-US" sz="610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 </a:t>
            </a:r>
          </a:p>
          <a:p>
            <a:pPr marL="0" indent="0" algn="ctr">
              <a:lnSpc>
                <a:spcPts val="7600"/>
              </a:lnSpc>
              <a:buNone/>
            </a:pPr>
            <a:endParaRPr lang="en-US" sz="610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646327-904F-0A4F-CF42-2A27D4DAE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490" y="3259858"/>
            <a:ext cx="2909954" cy="290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Cartoon character of a spongebob wearing a helmet and holding a shield&#10;&#10;AI-generated content may be incorrect.">
            <a:extLst>
              <a:ext uri="{FF2B5EF4-FFF2-40B4-BE49-F238E27FC236}">
                <a16:creationId xmlns:a16="http://schemas.microsoft.com/office/drawing/2014/main" id="{E670D962-2191-702D-54D8-DA0A71F2D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16555" y="3514764"/>
            <a:ext cx="2909955" cy="29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52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795A13-2A19-578B-9BE6-DF995A73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line drawn on a white grid&#10;&#10;AI-generated content may be incorrect.">
            <a:extLst>
              <a:ext uri="{FF2B5EF4-FFF2-40B4-BE49-F238E27FC236}">
                <a16:creationId xmlns:a16="http://schemas.microsoft.com/office/drawing/2014/main" id="{E8052E4C-44C3-6146-FD45-40C78D175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7" y="0"/>
            <a:ext cx="1416406" cy="2734056"/>
          </a:xfrm>
          <a:prstGeom prst="rect">
            <a:avLst/>
          </a:prstGeom>
        </p:spPr>
      </p:pic>
      <p:pic>
        <p:nvPicPr>
          <p:cNvPr id="8" name="Picture 7" descr="A graph with a blue line drawn on it&#10;&#10;AI-generated content may be incorrect.">
            <a:extLst>
              <a:ext uri="{FF2B5EF4-FFF2-40B4-BE49-F238E27FC236}">
                <a16:creationId xmlns:a16="http://schemas.microsoft.com/office/drawing/2014/main" id="{EBFE8575-387F-DEED-1791-D5DA5CDA3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556" y="0"/>
            <a:ext cx="2413608" cy="2734056"/>
          </a:xfrm>
          <a:prstGeom prst="rect">
            <a:avLst/>
          </a:prstGeom>
        </p:spPr>
      </p:pic>
      <p:pic>
        <p:nvPicPr>
          <p:cNvPr id="9" name="Picture 8" descr="A blue line drawn on a white grid&#10;&#10;AI-generated content may be incorrect.">
            <a:extLst>
              <a:ext uri="{FF2B5EF4-FFF2-40B4-BE49-F238E27FC236}">
                <a16:creationId xmlns:a16="http://schemas.microsoft.com/office/drawing/2014/main" id="{61BACD09-93BD-5AC3-906D-E94F0CA5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884" y="0"/>
            <a:ext cx="1742008" cy="2734056"/>
          </a:xfrm>
          <a:prstGeom prst="rect">
            <a:avLst/>
          </a:prstGeom>
        </p:spPr>
      </p:pic>
      <p:pic>
        <p:nvPicPr>
          <p:cNvPr id="10" name="Picture 9" descr="A graph of a line drawn on a grid&#10;&#10;AI-generated content may be incorrect.">
            <a:extLst>
              <a:ext uri="{FF2B5EF4-FFF2-40B4-BE49-F238E27FC236}">
                <a16:creationId xmlns:a16="http://schemas.microsoft.com/office/drawing/2014/main" id="{0642E888-14A9-8737-3AEE-5FBE5325F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440" y="0"/>
            <a:ext cx="2561321" cy="2734056"/>
          </a:xfrm>
          <a:prstGeom prst="rect">
            <a:avLst/>
          </a:prstGeom>
        </p:spPr>
      </p:pic>
      <p:pic>
        <p:nvPicPr>
          <p:cNvPr id="11" name="Picture 10" descr="A graph with a blue line drawn on it&#10;&#10;AI-generated content may be incorrect.">
            <a:extLst>
              <a:ext uri="{FF2B5EF4-FFF2-40B4-BE49-F238E27FC236}">
                <a16:creationId xmlns:a16="http://schemas.microsoft.com/office/drawing/2014/main" id="{71708C00-9761-1BAC-40DF-A1ED9C792B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6270" y="0"/>
            <a:ext cx="2860972" cy="2734056"/>
          </a:xfrm>
          <a:prstGeom prst="rect">
            <a:avLst/>
          </a:prstGeom>
        </p:spPr>
      </p:pic>
      <p:pic>
        <p:nvPicPr>
          <p:cNvPr id="12" name="Picture 11" descr="A screen shot of a map&#10;&#10;AI-generated content may be incorrect.">
            <a:extLst>
              <a:ext uri="{FF2B5EF4-FFF2-40B4-BE49-F238E27FC236}">
                <a16:creationId xmlns:a16="http://schemas.microsoft.com/office/drawing/2014/main" id="{E01D3A40-AB89-7F3B-97C0-7452D86D4A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53" y="2798064"/>
            <a:ext cx="2240786" cy="2734056"/>
          </a:xfrm>
          <a:prstGeom prst="rect">
            <a:avLst/>
          </a:prstGeom>
        </p:spPr>
      </p:pic>
      <p:pic>
        <p:nvPicPr>
          <p:cNvPr id="13" name="Picture 12" descr="A graph showing a line drawn on a grid&#10;&#10;AI-generated content may be incorrect.">
            <a:extLst>
              <a:ext uri="{FF2B5EF4-FFF2-40B4-BE49-F238E27FC236}">
                <a16:creationId xmlns:a16="http://schemas.microsoft.com/office/drawing/2014/main" id="{95F9D584-68F3-FC50-CFA8-250AC28AA3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6225" y="2798064"/>
            <a:ext cx="3050261" cy="2734056"/>
          </a:xfrm>
          <a:prstGeom prst="rect">
            <a:avLst/>
          </a:prstGeom>
        </p:spPr>
      </p:pic>
      <p:pic>
        <p:nvPicPr>
          <p:cNvPr id="14" name="Picture 13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F271B378-D0DE-771E-A96F-9F237843CD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295" y="2798064"/>
            <a:ext cx="2519491" cy="2734056"/>
          </a:xfrm>
          <a:prstGeom prst="rect">
            <a:avLst/>
          </a:prstGeom>
        </p:spPr>
      </p:pic>
      <p:pic>
        <p:nvPicPr>
          <p:cNvPr id="15" name="Picture 14" descr="A blue line drawn on a white grid&#10;&#10;AI-generated content may be incorrect.">
            <a:extLst>
              <a:ext uri="{FF2B5EF4-FFF2-40B4-BE49-F238E27FC236}">
                <a16:creationId xmlns:a16="http://schemas.microsoft.com/office/drawing/2014/main" id="{6585E29B-81D1-77E5-1EC8-98718D774A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3412" y="2798064"/>
            <a:ext cx="1730521" cy="2734056"/>
          </a:xfrm>
          <a:prstGeom prst="rect">
            <a:avLst/>
          </a:prstGeom>
        </p:spPr>
      </p:pic>
      <p:pic>
        <p:nvPicPr>
          <p:cNvPr id="16" name="Picture 15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31218E1C-0168-8F6F-C298-B84880BBD2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04753" y="2798064"/>
            <a:ext cx="3011983" cy="2734056"/>
          </a:xfrm>
          <a:prstGeom prst="rect">
            <a:avLst/>
          </a:prstGeom>
        </p:spPr>
      </p:pic>
      <p:pic>
        <p:nvPicPr>
          <p:cNvPr id="17" name="Picture 16" descr="A graph with a blue line&#10;&#10;AI-generated content may be incorrect.">
            <a:extLst>
              <a:ext uri="{FF2B5EF4-FFF2-40B4-BE49-F238E27FC236}">
                <a16:creationId xmlns:a16="http://schemas.microsoft.com/office/drawing/2014/main" id="{01B83778-942D-0E13-33EA-2515C907D0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244" y="5504688"/>
            <a:ext cx="1392936" cy="2715768"/>
          </a:xfrm>
          <a:prstGeom prst="rect">
            <a:avLst/>
          </a:prstGeom>
        </p:spPr>
      </p:pic>
      <p:pic>
        <p:nvPicPr>
          <p:cNvPr id="18" name="Picture 17" descr="A graph with a blue line drawn on it&#10;&#10;AI-generated content may be incorrect.">
            <a:extLst>
              <a:ext uri="{FF2B5EF4-FFF2-40B4-BE49-F238E27FC236}">
                <a16:creationId xmlns:a16="http://schemas.microsoft.com/office/drawing/2014/main" id="{757EFED6-B2E3-4844-8F4F-CFE428D030F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1310" y="5504688"/>
            <a:ext cx="2604099" cy="2724912"/>
          </a:xfrm>
          <a:prstGeom prst="rect">
            <a:avLst/>
          </a:prstGeom>
        </p:spPr>
      </p:pic>
      <p:pic>
        <p:nvPicPr>
          <p:cNvPr id="19" name="Picture 18" descr="A drawing of a face&#10;&#10;AI-generated content may be incorrect.">
            <a:extLst>
              <a:ext uri="{FF2B5EF4-FFF2-40B4-BE49-F238E27FC236}">
                <a16:creationId xmlns:a16="http://schemas.microsoft.com/office/drawing/2014/main" id="{31103EAA-2DE8-97A9-5B6F-3F6A8AD1EA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19185" y="5522976"/>
            <a:ext cx="2017126" cy="2706624"/>
          </a:xfrm>
          <a:prstGeom prst="rect">
            <a:avLst/>
          </a:prstGeom>
        </p:spPr>
      </p:pic>
      <p:pic>
        <p:nvPicPr>
          <p:cNvPr id="20" name="Picture 19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B8E6B292-349E-31E6-7280-F39940F639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22375" y="5513832"/>
            <a:ext cx="2452594" cy="2706624"/>
          </a:xfrm>
          <a:prstGeom prst="rect">
            <a:avLst/>
          </a:prstGeom>
        </p:spPr>
      </p:pic>
      <p:pic>
        <p:nvPicPr>
          <p:cNvPr id="21" name="Picture 20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CC640712-2C81-D753-B6DD-E33BA48B5F8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16551" y="5504688"/>
            <a:ext cx="2998699" cy="271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4936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413</Words>
  <Application>Microsoft Office PowerPoint</Application>
  <PresentationFormat>Custom</PresentationFormat>
  <Paragraphs>122</Paragraphs>
  <Slides>15</Slides>
  <Notes>14</Notes>
  <HiddenSlides>1</HiddenSlides>
  <MMClips>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Nitay Amiel</cp:lastModifiedBy>
  <cp:revision>2</cp:revision>
  <dcterms:created xsi:type="dcterms:W3CDTF">2025-08-24T16:13:47Z</dcterms:created>
  <dcterms:modified xsi:type="dcterms:W3CDTF">2025-10-05T14:18:30Z</dcterms:modified>
</cp:coreProperties>
</file>